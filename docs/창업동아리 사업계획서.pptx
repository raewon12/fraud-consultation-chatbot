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809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208" y="1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3923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17.png"/><Relationship Id="rId9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17.png"/><Relationship Id="rId9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image" Target="../media/image17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17.png"/><Relationship Id="rId9" Type="http://schemas.openxmlformats.org/officeDocument/2006/relationships/image" Target="../media/image6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1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17.png"/><Relationship Id="rId9" Type="http://schemas.openxmlformats.org/officeDocument/2006/relationships/image" Target="../media/image7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9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17.png"/><Relationship Id="rId9" Type="http://schemas.openxmlformats.org/officeDocument/2006/relationships/image" Target="../media/image8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3" Type="http://schemas.openxmlformats.org/officeDocument/2006/relationships/image" Target="../media/image87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4" Type="http://schemas.openxmlformats.org/officeDocument/2006/relationships/image" Target="../media/image1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9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0" Type="http://schemas.openxmlformats.org/officeDocument/2006/relationships/image" Target="../media/image105.png"/><Relationship Id="rId4" Type="http://schemas.openxmlformats.org/officeDocument/2006/relationships/image" Target="../media/image17.png"/><Relationship Id="rId9" Type="http://schemas.openxmlformats.org/officeDocument/2006/relationships/image" Target="../media/image10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3" Type="http://schemas.openxmlformats.org/officeDocument/2006/relationships/image" Target="../media/image108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0" Type="http://schemas.openxmlformats.org/officeDocument/2006/relationships/image" Target="../media/image114.png"/><Relationship Id="rId4" Type="http://schemas.openxmlformats.org/officeDocument/2006/relationships/image" Target="../media/image17.png"/><Relationship Id="rId9" Type="http://schemas.openxmlformats.org/officeDocument/2006/relationships/image" Target="../media/image1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60000"/>
          </a:blip>
          <a:srcRect l="-2083" r="-2083"/>
          <a:stretch/>
        </p:blipFill>
        <p:spPr>
          <a:xfrm>
            <a:off x="1218895" y="666598"/>
            <a:ext cx="9753905" cy="914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alphaModFix amt="15000"/>
          </a:blip>
          <a:srcRect l="-2083" r="-2083"/>
          <a:stretch/>
        </p:blipFill>
        <p:spPr>
          <a:xfrm>
            <a:off x="2438705" y="6181344"/>
            <a:ext cx="7315200" cy="914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767682" y="1643177"/>
            <a:ext cx="2657246" cy="400507"/>
          </a:xfrm>
          <a:prstGeom prst="roundRect">
            <a:avLst>
              <a:gd name="adj" fmla="val 228311"/>
            </a:avLst>
          </a:prstGeom>
          <a:solidFill>
            <a:srgbClr val="1C1C1E">
              <a:alpha val="5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Text 3"/>
          <p:cNvSpPr/>
          <p:nvPr/>
        </p:nvSpPr>
        <p:spPr>
          <a:xfrm>
            <a:off x="4729277" y="1643177"/>
            <a:ext cx="2734056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76200" rIns="190500" bIns="762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2026-1학기 한성대학교 창업동아리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3482950" y="2348179"/>
            <a:ext cx="5228539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kern="0" spc="96" dirty="0">
                <a:solidFill>
                  <a:srgbClr val="C9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변호사 없이, 누구나 직접 대처할 수 있다</a:t>
            </a:r>
            <a:endParaRPr lang="en-US" sz="1900" dirty="0"/>
          </a:p>
        </p:txBody>
      </p:sp>
      <p:sp>
        <p:nvSpPr>
          <p:cNvPr id="10" name="Text 5"/>
          <p:cNvSpPr txBox="1"/>
          <p:nvPr/>
        </p:nvSpPr>
        <p:spPr>
          <a:xfrm>
            <a:off x="3511296" y="2865730"/>
            <a:ext cx="5172761" cy="1686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00" b="1" kern="0" spc="-173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중고거래 사기꾼</a:t>
            </a:r>
            <a:endParaRPr lang="en-US" sz="5700" dirty="0"/>
          </a:p>
          <a:p>
            <a:pPr marL="0" indent="0" algn="ctr">
              <a:buNone/>
            </a:pPr>
            <a:r>
              <a:rPr lang="en-US" sz="5700" b="1" kern="0" spc="-173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참교육 챗봇</a:t>
            </a:r>
            <a:endParaRPr lang="en-US" sz="5700" dirty="0"/>
          </a:p>
        </p:txBody>
      </p:sp>
      <p:sp>
        <p:nvSpPr>
          <p:cNvPr id="11" name="Shape 6"/>
          <p:cNvSpPr/>
          <p:nvPr/>
        </p:nvSpPr>
        <p:spPr>
          <a:xfrm>
            <a:off x="8671255" y="2865730"/>
            <a:ext cx="114300" cy="1143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 7"/>
          <p:cNvSpPr txBox="1"/>
          <p:nvPr/>
        </p:nvSpPr>
        <p:spPr>
          <a:xfrm>
            <a:off x="5271516" y="5331866"/>
            <a:ext cx="165597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정래원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5389474" y="5676595"/>
            <a:ext cx="1420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학번 2071117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4000"/>
          </a:blip>
          <a:srcRect/>
          <a:stretch/>
        </p:blipFill>
        <p:spPr>
          <a:xfrm>
            <a:off x="6001207" y="666598"/>
            <a:ext cx="6667805" cy="66678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571500" y="571500"/>
            <a:ext cx="761695" cy="2834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450117" y="6248095"/>
            <a:ext cx="247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A84C">
                    <a:alpha val="6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761695" y="1973275"/>
            <a:ext cx="1295705" cy="352044"/>
          </a:xfrm>
          <a:prstGeom prst="roundRect">
            <a:avLst>
              <a:gd name="adj" fmla="val 259740"/>
            </a:avLst>
          </a:prstGeom>
          <a:solidFill>
            <a:srgbClr val="EAE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Text 4"/>
          <p:cNvSpPr txBox="1"/>
          <p:nvPr/>
        </p:nvSpPr>
        <p:spPr>
          <a:xfrm>
            <a:off x="933602" y="2049170"/>
            <a:ext cx="1028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Leader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61695" y="2548433"/>
            <a:ext cx="3724351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9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정래원</a:t>
            </a:r>
            <a:endParaRPr lang="en-US" sz="4500" dirty="0"/>
          </a:p>
        </p:txBody>
      </p:sp>
      <p:sp>
        <p:nvSpPr>
          <p:cNvPr id="10" name="Shape 6"/>
          <p:cNvSpPr/>
          <p:nvPr/>
        </p:nvSpPr>
        <p:spPr>
          <a:xfrm>
            <a:off x="761695" y="3300070"/>
            <a:ext cx="28346" cy="25694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932688" y="3300070"/>
            <a:ext cx="3363163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26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한성대학교 | 학번 2071117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61695" y="4123030"/>
            <a:ext cx="400507" cy="400507"/>
          </a:xfrm>
          <a:prstGeom prst="ellipse">
            <a:avLst/>
          </a:prstGeom>
          <a:solidFill>
            <a:srgbClr val="1C1C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760" r="-760"/>
          <a:stretch/>
        </p:blipFill>
        <p:spPr>
          <a:xfrm>
            <a:off x="886054" y="4237330"/>
            <a:ext cx="152705" cy="17190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04849" y="4202582"/>
            <a:ext cx="125821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창업동아리 팀장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61695" y="4694530"/>
            <a:ext cx="400507" cy="400507"/>
          </a:xfrm>
          <a:prstGeom prst="ellipse">
            <a:avLst/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1064" r="-1064"/>
          <a:stretch/>
        </p:blipFill>
        <p:spPr>
          <a:xfrm>
            <a:off x="852221" y="4808830"/>
            <a:ext cx="219456" cy="1719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04849" y="4774082"/>
            <a:ext cx="14575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및 기획 총괄</a:t>
            </a:r>
            <a:endParaRPr lang="en-US" sz="12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l="-2" r="-2"/>
          <a:stretch/>
        </p:blipFill>
        <p:spPr>
          <a:xfrm>
            <a:off x="4937760" y="1665122"/>
            <a:ext cx="6492240" cy="3909060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rcRect t="-476" b="-476"/>
          <a:stretch/>
        </p:blipFill>
        <p:spPr>
          <a:xfrm>
            <a:off x="5470855" y="2209190"/>
            <a:ext cx="276149" cy="24780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861304" y="2140610"/>
            <a:ext cx="188000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실전 창업 경험</a:t>
            </a:r>
            <a:endParaRPr lang="en-US" sz="1900" dirty="0"/>
          </a:p>
        </p:txBody>
      </p:sp>
      <p:sp>
        <p:nvSpPr>
          <p:cNvPr id="21" name="Text 13"/>
          <p:cNvSpPr txBox="1"/>
          <p:nvPr/>
        </p:nvSpPr>
        <p:spPr>
          <a:xfrm>
            <a:off x="5470855" y="2745029"/>
            <a:ext cx="55632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"단순 아이디어가 아닌, 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사업 운영 경험</a:t>
            </a: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바탕으로 시작했습니다." </a:t>
            </a:r>
            <a:endParaRPr lang="en-US" sz="1400" dirty="0"/>
          </a:p>
        </p:txBody>
      </p:sp>
      <p:sp>
        <p:nvSpPr>
          <p:cNvPr id="22" name="Text 14"/>
          <p:cNvSpPr txBox="1"/>
          <p:nvPr/>
        </p:nvSpPr>
        <p:spPr>
          <a:xfrm>
            <a:off x="5470855" y="3509467"/>
            <a:ext cx="55632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2025년,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스포츠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유니폼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분야에서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사업자 등록을 완료하고 직접 운영하며 시장의 문제점을 몸소 체험했습니다.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5470855" y="4339742"/>
            <a:ext cx="54864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4" name="Text 16"/>
          <p:cNvSpPr txBox="1"/>
          <p:nvPr/>
        </p:nvSpPr>
        <p:spPr>
          <a:xfrm>
            <a:off x="5470855" y="4587545"/>
            <a:ext cx="1267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8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Period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5470855" y="4846320"/>
            <a:ext cx="141732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 ~ Present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7230161" y="4587545"/>
            <a:ext cx="1105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8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7230161" y="4846320"/>
            <a:ext cx="11055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E-Commerce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8826703" y="4587545"/>
            <a:ext cx="1295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8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8826703" y="4846320"/>
            <a:ext cx="135697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Founder &amp; CEO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51031" y="6248095"/>
            <a:ext cx="247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A84C">
                    <a:alpha val="6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571500"/>
            <a:ext cx="109728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7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창업 계기</a:t>
            </a:r>
            <a:endParaRPr lang="en-US" sz="3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761695" y="1354226"/>
            <a:ext cx="57150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761695" y="1964131"/>
            <a:ext cx="4762195" cy="254660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792370" y="2116836"/>
            <a:ext cx="6062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F0F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Shape 5"/>
          <p:cNvSpPr/>
          <p:nvPr/>
        </p:nvSpPr>
        <p:spPr>
          <a:xfrm>
            <a:off x="1104595" y="2307031"/>
            <a:ext cx="476402" cy="476402"/>
          </a:xfrm>
          <a:prstGeom prst="ellipse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38098" y="2440534"/>
            <a:ext cx="209398" cy="20939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04595" y="2973629"/>
            <a:ext cx="42675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직접 겪은 사기 피해</a:t>
            </a:r>
            <a:endParaRPr lang="en-US" sz="1600" dirty="0"/>
          </a:p>
        </p:txBody>
      </p:sp>
      <p:sp>
        <p:nvSpPr>
          <p:cNvPr id="13" name="Text 7"/>
          <p:cNvSpPr txBox="1"/>
          <p:nvPr/>
        </p:nvSpPr>
        <p:spPr>
          <a:xfrm>
            <a:off x="1104595" y="3436315"/>
            <a:ext cx="41532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/>
              <a:t>스포츠 의류 유통업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운영 중 입금 후 잠수를 타는 전형적인 사기를 당했습니다. 막상 당하니 당황스러워 골든타임을 놓쳤고, 피해 복구가 막막했습니다.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>
            <a:alphaModFix amt="60000"/>
          </a:blip>
          <a:srcRect t="-80" b="-80"/>
          <a:stretch/>
        </p:blipFill>
        <p:spPr>
          <a:xfrm>
            <a:off x="6024982" y="3123590"/>
            <a:ext cx="142646" cy="228600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6667805" y="1964131"/>
            <a:ext cx="4762195" cy="2546604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639958" y="2116836"/>
            <a:ext cx="6199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F0F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Shape 9"/>
          <p:cNvSpPr/>
          <p:nvPr/>
        </p:nvSpPr>
        <p:spPr>
          <a:xfrm>
            <a:off x="7010705" y="2307031"/>
            <a:ext cx="476402" cy="476402"/>
          </a:xfrm>
          <a:prstGeom prst="ellipse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8"/>
          <a:srcRect l="-1004" r="-1004"/>
          <a:stretch/>
        </p:blipFill>
        <p:spPr>
          <a:xfrm>
            <a:off x="7114946" y="2440534"/>
            <a:ext cx="267005" cy="209398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7010705" y="2973629"/>
            <a:ext cx="42675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변호사를 통한 깨달음</a:t>
            </a:r>
            <a:endParaRPr lang="en-US" sz="1600" dirty="0"/>
          </a:p>
        </p:txBody>
      </p:sp>
      <p:sp>
        <p:nvSpPr>
          <p:cNvPr id="20" name="Text 11"/>
          <p:cNvSpPr txBox="1"/>
          <p:nvPr/>
        </p:nvSpPr>
        <p:spPr>
          <a:xfrm>
            <a:off x="7010705" y="3436315"/>
            <a:ext cx="41532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변호사의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도움을 받았으나, 실제 진행된 내용증명, 지급정지, 고소장 작성은 </a:t>
            </a:r>
            <a:r>
              <a:rPr lang="en-US" sz="1200" dirty="0">
                <a:solidFill>
                  <a:srgbClr val="C9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특별한 권한 없이도 누구나 할 수 있는 절차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였습니다. </a:t>
            </a:r>
            <a:endParaRPr lang="en-US" sz="1200" dirty="0"/>
          </a:p>
        </p:txBody>
      </p:sp>
      <p:sp>
        <p:nvSpPr>
          <p:cNvPr id="21" name="Shape 12"/>
          <p:cNvSpPr/>
          <p:nvPr/>
        </p:nvSpPr>
        <p:spPr>
          <a:xfrm>
            <a:off x="761695" y="4605833"/>
            <a:ext cx="10668305" cy="1895551"/>
          </a:xfrm>
          <a:prstGeom prst="roundRect">
            <a:avLst>
              <a:gd name="adj" fmla="val 5818"/>
            </a:avLst>
          </a:prstGeom>
          <a:solidFill>
            <a:srgbClr val="1C1C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2" name="Text 13"/>
          <p:cNvSpPr txBox="1"/>
          <p:nvPr/>
        </p:nvSpPr>
        <p:spPr>
          <a:xfrm>
            <a:off x="447142" y="4415638"/>
            <a:ext cx="773582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rgbClr val="C9A84C">
                    <a:alpha val="1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“</a:t>
            </a:r>
            <a:endParaRPr lang="en-US" sz="9600" dirty="0"/>
          </a:p>
        </p:txBody>
      </p:sp>
      <p:sp>
        <p:nvSpPr>
          <p:cNvPr id="23" name="Text 14"/>
          <p:cNvSpPr txBox="1"/>
          <p:nvPr/>
        </p:nvSpPr>
        <p:spPr>
          <a:xfrm>
            <a:off x="2725826" y="4987138"/>
            <a:ext cx="6741871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AFAF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"변호사에게 비싼 비용을 지불할 필요 없이,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C9A84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절차만 정확히 안다면 누구나 직접 대처할 수 있습니다.</a:t>
            </a:r>
            <a:r>
              <a:rPr lang="en-US" sz="2100" b="1" dirty="0">
                <a:solidFill>
                  <a:srgbClr val="FAFAF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 </a:t>
            </a:r>
            <a:r>
              <a:rPr lang="en-US" sz="1200" b="1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발견이 '중고거래 사기꾼 참교육 챗봇'의 시작이었습니다.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171907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51031" y="6248095"/>
            <a:ext cx="247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A84C">
                    <a:alpha val="6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476402"/>
            <a:ext cx="1097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문제 정의</a:t>
            </a:r>
            <a:endParaRPr lang="en-US" sz="3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761695" y="1143000"/>
            <a:ext cx="476402" cy="384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1695" y="1466698"/>
            <a:ext cx="5191049" cy="1152144"/>
          </a:xfrm>
          <a:prstGeom prst="roundRect">
            <a:avLst>
              <a:gd name="adj" fmla="val 15742"/>
            </a:avLst>
          </a:prstGeom>
          <a:solidFill>
            <a:srgbClr val="FFFFFF"/>
          </a:solidFill>
          <a:ln/>
          <a:effectLst>
            <a:outerShdw blurRad="139700" dist="508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9" name="Shape 5"/>
          <p:cNvSpPr/>
          <p:nvPr/>
        </p:nvSpPr>
        <p:spPr>
          <a:xfrm>
            <a:off x="761695" y="1466698"/>
            <a:ext cx="38405" cy="1152144"/>
          </a:xfrm>
          <a:prstGeom prst="roundRect">
            <a:avLst>
              <a:gd name="adj" fmla="val 472253"/>
            </a:avLst>
          </a:prstGeom>
          <a:solidFill>
            <a:srgbClr val="C9A84C"/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1086307" y="1657807"/>
            <a:ext cx="4772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중고거래 시장 규모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086307" y="1922069"/>
            <a:ext cx="4696358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20</a:t>
            </a:r>
            <a:r>
              <a:rPr lang="en-US" sz="1400" b="1" dirty="0">
                <a:solidFill>
                  <a:srgbClr val="C9A84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조원 이상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6238951" y="1466698"/>
            <a:ext cx="5191049" cy="1152144"/>
          </a:xfrm>
          <a:prstGeom prst="roundRect">
            <a:avLst>
              <a:gd name="adj" fmla="val 15742"/>
            </a:avLst>
          </a:prstGeom>
          <a:solidFill>
            <a:srgbClr val="FFFFFF"/>
          </a:solidFill>
          <a:ln/>
          <a:effectLst>
            <a:outerShdw blurRad="139700" dist="508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3" name="Shape 9"/>
          <p:cNvSpPr/>
          <p:nvPr/>
        </p:nvSpPr>
        <p:spPr>
          <a:xfrm>
            <a:off x="6238951" y="1466698"/>
            <a:ext cx="38405" cy="1152144"/>
          </a:xfrm>
          <a:prstGeom prst="roundRect">
            <a:avLst>
              <a:gd name="adj" fmla="val 472253"/>
            </a:avLst>
          </a:prstGeom>
          <a:solidFill>
            <a:srgbClr val="C9A84C"/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6562649" y="1657807"/>
            <a:ext cx="4772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사기 신고 건수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562649" y="1922069"/>
            <a:ext cx="477225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수만</a:t>
            </a:r>
            <a:r>
              <a:rPr lang="en-US" sz="1400" b="1" dirty="0">
                <a:solidFill>
                  <a:srgbClr val="C9A84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 매년 발생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966520" y="4986527"/>
            <a:ext cx="2115008" cy="1428294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000000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876910" y="5734507"/>
            <a:ext cx="22942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구글 검색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2127" r="-2127"/>
          <a:stretch/>
        </p:blipFill>
        <p:spPr>
          <a:xfrm>
            <a:off x="1833372" y="6069178"/>
            <a:ext cx="381305" cy="91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23544" y="6174334"/>
            <a:ext cx="220096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정보가 산발적이며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오래된 내용 혼재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453231" y="5074461"/>
            <a:ext cx="2409445" cy="1695298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000000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1" name="Text 16"/>
          <p:cNvSpPr txBox="1"/>
          <p:nvPr/>
        </p:nvSpPr>
        <p:spPr>
          <a:xfrm>
            <a:off x="3591763" y="5734507"/>
            <a:ext cx="22942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경찰청 사이트</a:t>
            </a:r>
            <a:endParaRPr lang="en-US" sz="12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 l="-2127" r="-2127"/>
          <a:stretch/>
        </p:blipFill>
        <p:spPr>
          <a:xfrm>
            <a:off x="4548226" y="6069178"/>
            <a:ext cx="381305" cy="91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3581704" y="6158179"/>
            <a:ext cx="220096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절차가 복잡하고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할지 모름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191402" y="5077054"/>
            <a:ext cx="2523744" cy="1695298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000000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5" name="Text 19"/>
          <p:cNvSpPr txBox="1"/>
          <p:nvPr/>
        </p:nvSpPr>
        <p:spPr>
          <a:xfrm>
            <a:off x="6306617" y="5734507"/>
            <a:ext cx="22942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변호사 선임</a:t>
            </a:r>
            <a:endParaRPr lang="en-US" sz="12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rcRect l="-2127" r="-2127"/>
          <a:stretch/>
        </p:blipFill>
        <p:spPr>
          <a:xfrm>
            <a:off x="7263079" y="6069178"/>
            <a:ext cx="381305" cy="91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353251" y="6174334"/>
            <a:ext cx="220096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부담 큼,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간단한 절차 대행뿐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8906256" y="5077054"/>
            <a:ext cx="2523744" cy="1695298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000000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9" name="Text 22"/>
          <p:cNvSpPr txBox="1"/>
          <p:nvPr/>
        </p:nvSpPr>
        <p:spPr>
          <a:xfrm>
            <a:off x="9020556" y="5734507"/>
            <a:ext cx="22942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플랫폼 고객센터</a:t>
            </a:r>
            <a:endParaRPr lang="en-US" sz="12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5"/>
          <a:srcRect l="-2127" r="-2127"/>
          <a:stretch/>
        </p:blipFill>
        <p:spPr>
          <a:xfrm>
            <a:off x="9977018" y="6069178"/>
            <a:ext cx="381305" cy="91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68105" y="6174334"/>
            <a:ext cx="220096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응답이 느리고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실질적 도움 미흡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761695" y="4920691"/>
            <a:ext cx="1399946" cy="19202"/>
          </a:xfrm>
          <a:prstGeom prst="rect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3" name="Text 25"/>
          <p:cNvSpPr txBox="1"/>
          <p:nvPr/>
        </p:nvSpPr>
        <p:spPr>
          <a:xfrm>
            <a:off x="761695" y="4616196"/>
            <a:ext cx="1650492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기존 해결책의 한계</a:t>
            </a:r>
            <a:endParaRPr lang="en-US" sz="13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6"/>
          <a:srcRect l="-361" r="-361"/>
          <a:stretch/>
        </p:blipFill>
        <p:spPr>
          <a:xfrm>
            <a:off x="1914754" y="5344058"/>
            <a:ext cx="219456" cy="228600"/>
          </a:xfrm>
          <a:prstGeom prst="rect">
            <a:avLst/>
          </a:prstGeom>
        </p:spPr>
      </p:pic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4610405" y="5344058"/>
            <a:ext cx="256946" cy="228600"/>
          </a:xfrm>
          <a:prstGeom prst="rect">
            <a:avLst/>
          </a:prstGeom>
        </p:spPr>
      </p:pic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338974" y="5344058"/>
            <a:ext cx="228600" cy="228600"/>
          </a:xfrm>
          <a:prstGeom prst="rect">
            <a:avLst/>
          </a:prstGeom>
        </p:spPr>
      </p:pic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053828" y="5344058"/>
            <a:ext cx="228600" cy="228600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800100" y="2852623"/>
            <a:ext cx="10668305" cy="1914754"/>
          </a:xfrm>
          <a:prstGeom prst="roundRect">
            <a:avLst>
              <a:gd name="adj" fmla="val 5702"/>
            </a:avLst>
          </a:prstGeom>
          <a:solidFill>
            <a:srgbClr val="EAEAE5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9" name="Shape 27"/>
          <p:cNvSpPr/>
          <p:nvPr/>
        </p:nvSpPr>
        <p:spPr>
          <a:xfrm>
            <a:off x="1047902" y="3396082"/>
            <a:ext cx="1457554" cy="19202"/>
          </a:xfrm>
          <a:prstGeom prst="rect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0" name="Text 28"/>
          <p:cNvSpPr txBox="1"/>
          <p:nvPr/>
        </p:nvSpPr>
        <p:spPr>
          <a:xfrm>
            <a:off x="1047902" y="3091586"/>
            <a:ext cx="1759306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가장 흔한 사기 패턴</a:t>
            </a:r>
            <a:endParaRPr lang="en-US" sz="1300" dirty="0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10"/>
          <a:srcRect t="-386" b="-386"/>
          <a:stretch/>
        </p:blipFill>
        <p:spPr>
          <a:xfrm>
            <a:off x="2286000" y="3836822"/>
            <a:ext cx="1651406" cy="19202"/>
          </a:xfrm>
          <a:prstGeom prst="rect">
            <a:avLst/>
          </a:prstGeom>
        </p:spPr>
      </p:pic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0"/>
          <a:srcRect t="-391" b="-391"/>
          <a:stretch/>
        </p:blipFill>
        <p:spPr>
          <a:xfrm>
            <a:off x="5270602" y="3836822"/>
            <a:ext cx="1651406" cy="19202"/>
          </a:xfrm>
          <a:prstGeom prst="rect">
            <a:avLst/>
          </a:prstGeom>
        </p:spPr>
      </p:pic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10"/>
          <a:srcRect t="-386" b="-386"/>
          <a:stretch/>
        </p:blipFill>
        <p:spPr>
          <a:xfrm>
            <a:off x="8255203" y="3836822"/>
            <a:ext cx="1651406" cy="19202"/>
          </a:xfrm>
          <a:prstGeom prst="rect">
            <a:avLst/>
          </a:prstGeom>
        </p:spPr>
      </p:pic>
      <p:sp>
        <p:nvSpPr>
          <p:cNvPr id="44" name="Shape 29"/>
          <p:cNvSpPr/>
          <p:nvPr/>
        </p:nvSpPr>
        <p:spPr>
          <a:xfrm>
            <a:off x="8042148" y="4517236"/>
            <a:ext cx="3105302" cy="371246"/>
          </a:xfrm>
          <a:prstGeom prst="roundRect">
            <a:avLst>
              <a:gd name="adj" fmla="val 246306"/>
            </a:avLst>
          </a:prstGeom>
          <a:solidFill>
            <a:srgbClr val="FFEAEA"/>
          </a:solidFill>
          <a:ln w="12700">
            <a:solidFill>
              <a:srgbClr val="D32F2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5" name="Text 30"/>
          <p:cNvSpPr/>
          <p:nvPr/>
        </p:nvSpPr>
        <p:spPr>
          <a:xfrm>
            <a:off x="8294522" y="4533136"/>
            <a:ext cx="2839212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76200" rIns="139700" bIns="762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32F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대부분이 이 시점에서 골든타임(1~2시간)을 놓침 </a:t>
            </a:r>
            <a:endParaRPr lang="en-US" sz="1000" dirty="0"/>
          </a:p>
        </p:txBody>
      </p:sp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8237372" y="4569357"/>
            <a:ext cx="114300" cy="133502"/>
          </a:xfrm>
          <a:prstGeom prst="rect">
            <a:avLst/>
          </a:prstGeom>
        </p:spPr>
      </p:pic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380744" y="3600907"/>
            <a:ext cx="476402" cy="476402"/>
          </a:xfrm>
          <a:prstGeom prst="rect">
            <a:avLst/>
          </a:prstGeom>
        </p:spPr>
      </p:pic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13"/>
          <a:srcRect l="-1403" r="-1403"/>
          <a:stretch/>
        </p:blipFill>
        <p:spPr>
          <a:xfrm>
            <a:off x="1514246" y="3748126"/>
            <a:ext cx="209398" cy="181051"/>
          </a:xfrm>
          <a:prstGeom prst="rect">
            <a:avLst/>
          </a:prstGeom>
        </p:spPr>
      </p:pic>
      <p:sp>
        <p:nvSpPr>
          <p:cNvPr id="49" name="Text 31"/>
          <p:cNvSpPr txBox="1"/>
          <p:nvPr/>
        </p:nvSpPr>
        <p:spPr>
          <a:xfrm>
            <a:off x="1292962" y="4172407"/>
            <a:ext cx="6528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입금 요청</a:t>
            </a:r>
            <a:endParaRPr lang="en-US" sz="1000" dirty="0"/>
          </a:p>
        </p:txBody>
      </p:sp>
      <p:pic>
        <p:nvPicPr>
          <p:cNvPr id="50" name="Image 16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365346" y="3600907"/>
            <a:ext cx="476402" cy="476402"/>
          </a:xfrm>
          <a:prstGeom prst="rect">
            <a:avLst/>
          </a:prstGeom>
        </p:spPr>
      </p:pic>
      <p:pic>
        <p:nvPicPr>
          <p:cNvPr id="51" name="Image 17" descr="preencoded.png"/>
          <p:cNvPicPr>
            <a:picLocks noChangeAspect="1"/>
          </p:cNvPicPr>
          <p:nvPr/>
        </p:nvPicPr>
        <p:blipFill>
          <a:blip r:embed="rId14"/>
          <a:srcRect l="-1082" r="-1082"/>
          <a:stretch/>
        </p:blipFill>
        <p:spPr>
          <a:xfrm>
            <a:off x="4522622" y="3748126"/>
            <a:ext cx="161849" cy="181051"/>
          </a:xfrm>
          <a:prstGeom prst="rect">
            <a:avLst/>
          </a:prstGeom>
        </p:spPr>
      </p:pic>
      <p:sp>
        <p:nvSpPr>
          <p:cNvPr id="52" name="Text 32"/>
          <p:cNvSpPr txBox="1"/>
          <p:nvPr/>
        </p:nvSpPr>
        <p:spPr>
          <a:xfrm>
            <a:off x="4095598" y="4172407"/>
            <a:ext cx="102229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택배 발송 약속</a:t>
            </a:r>
            <a:endParaRPr lang="en-US" sz="1000" dirty="0"/>
          </a:p>
        </p:txBody>
      </p:sp>
      <p:pic>
        <p:nvPicPr>
          <p:cNvPr id="53" name="Image 18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349947" y="3600907"/>
            <a:ext cx="476402" cy="476402"/>
          </a:xfrm>
          <a:prstGeom prst="rect">
            <a:avLst/>
          </a:prstGeom>
        </p:spPr>
      </p:pic>
      <p:pic>
        <p:nvPicPr>
          <p:cNvPr id="54" name="Image 19" descr="preencoded.png"/>
          <p:cNvPicPr>
            <a:picLocks noChangeAspect="1"/>
          </p:cNvPicPr>
          <p:nvPr/>
        </p:nvPicPr>
        <p:blipFill>
          <a:blip r:embed="rId15"/>
          <a:srcRect l="-7143" r="-7143"/>
          <a:stretch/>
        </p:blipFill>
        <p:spPr>
          <a:xfrm>
            <a:off x="7498080" y="3748126"/>
            <a:ext cx="181051" cy="181051"/>
          </a:xfrm>
          <a:prstGeom prst="rect">
            <a:avLst/>
          </a:prstGeom>
        </p:spPr>
      </p:pic>
      <p:sp>
        <p:nvSpPr>
          <p:cNvPr id="55" name="Text 33"/>
          <p:cNvSpPr txBox="1"/>
          <p:nvPr/>
        </p:nvSpPr>
        <p:spPr>
          <a:xfrm>
            <a:off x="7194499" y="4172407"/>
            <a:ext cx="795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날짜 미루기</a:t>
            </a:r>
            <a:endParaRPr lang="en-US" sz="1000" dirty="0"/>
          </a:p>
        </p:txBody>
      </p:sp>
      <p:pic>
        <p:nvPicPr>
          <p:cNvPr id="56" name="Image 20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334549" y="3600907"/>
            <a:ext cx="476402" cy="476402"/>
          </a:xfrm>
          <a:prstGeom prst="rect">
            <a:avLst/>
          </a:prstGeom>
        </p:spPr>
      </p:pic>
      <p:pic>
        <p:nvPicPr>
          <p:cNvPr id="57" name="Image 21" descr="preencoded.png"/>
          <p:cNvPicPr>
            <a:picLocks noChangeAspect="1"/>
          </p:cNvPicPr>
          <p:nvPr/>
        </p:nvPicPr>
        <p:blipFill>
          <a:blip r:embed="rId17"/>
          <a:srcRect l="-505" r="-505"/>
          <a:stretch/>
        </p:blipFill>
        <p:spPr>
          <a:xfrm>
            <a:off x="10458907" y="3748126"/>
            <a:ext cx="228600" cy="181051"/>
          </a:xfrm>
          <a:prstGeom prst="rect">
            <a:avLst/>
          </a:prstGeom>
        </p:spPr>
      </p:pic>
      <p:sp>
        <p:nvSpPr>
          <p:cNvPr id="58" name="Text 34"/>
          <p:cNvSpPr txBox="1"/>
          <p:nvPr/>
        </p:nvSpPr>
        <p:spPr>
          <a:xfrm>
            <a:off x="10003536" y="4172407"/>
            <a:ext cx="11439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잠수 (연락두절)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50117" y="6248095"/>
            <a:ext cx="247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A84C">
                    <a:alpha val="6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476402"/>
            <a:ext cx="1097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솔루션</a:t>
            </a:r>
            <a:endParaRPr lang="en-US" sz="3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761695" y="1143000"/>
            <a:ext cx="476402" cy="384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1695" y="1898294"/>
            <a:ext cx="516270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1000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변호사 없이,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내가 직접 대처하는 </a:t>
            </a:r>
            <a:r>
              <a:rPr lang="en-US" sz="2400" dirty="0">
                <a:solidFill>
                  <a:srgbClr val="C9A84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챗봇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61695" y="2820010"/>
            <a:ext cx="512521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복잡한 검색이나 비싼 수임료 없이, 사기 상황만 입력하세요.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즉시 단계별 대처법을 안내</a:t>
            </a: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해드립니다. 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761695" y="3785616"/>
            <a:ext cx="5048402" cy="206928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41094" y="4080967"/>
            <a:ext cx="426476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6" dirty="0">
                <a:solidFill>
                  <a:srgbClr val="C9A84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핵심 차별점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1104595" y="4475988"/>
            <a:ext cx="448696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"변호사가 하는 일을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챗봇이 무료로 안내해드립니다."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104595" y="5126126"/>
            <a:ext cx="44869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내용증명, 고소장 작성 가이드, 지급정지 절차까지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돈 한 푼 안 들이고 직접 대처 가능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l="-1773" r="-1773"/>
          <a:stretch/>
        </p:blipFill>
        <p:spPr>
          <a:xfrm>
            <a:off x="1104595" y="4121201"/>
            <a:ext cx="200254" cy="171907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 t="-4" b="-4"/>
          <a:stretch/>
        </p:blipFill>
        <p:spPr>
          <a:xfrm>
            <a:off x="7095744" y="1686154"/>
            <a:ext cx="3619195" cy="457200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7172554" y="1762049"/>
            <a:ext cx="3467405" cy="666598"/>
          </a:xfrm>
          <a:prstGeom prst="rect">
            <a:avLst/>
          </a:prstGeom>
          <a:solidFill>
            <a:srgbClr val="1C1C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Shape 10"/>
          <p:cNvSpPr/>
          <p:nvPr/>
        </p:nvSpPr>
        <p:spPr>
          <a:xfrm>
            <a:off x="7362749" y="1922069"/>
            <a:ext cx="342900" cy="3429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7438644" y="2017166"/>
            <a:ext cx="190195" cy="15270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819949" y="1904695"/>
            <a:ext cx="9436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참교육 챗봇</a:t>
            </a:r>
            <a:endParaRPr lang="en-US" sz="1100" dirty="0"/>
          </a:p>
        </p:txBody>
      </p:sp>
      <p:sp>
        <p:nvSpPr>
          <p:cNvPr id="20" name="Text 12"/>
          <p:cNvSpPr txBox="1"/>
          <p:nvPr/>
        </p:nvSpPr>
        <p:spPr>
          <a:xfrm>
            <a:off x="7819949" y="2122322"/>
            <a:ext cx="1032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Legal Assistant</a:t>
            </a:r>
            <a:endParaRPr lang="en-US" sz="800" dirty="0"/>
          </a:p>
        </p:txBody>
      </p:sp>
      <p:sp>
        <p:nvSpPr>
          <p:cNvPr id="21" name="Shape 13"/>
          <p:cNvSpPr/>
          <p:nvPr/>
        </p:nvSpPr>
        <p:spPr>
          <a:xfrm>
            <a:off x="7172554" y="2424989"/>
            <a:ext cx="3467405" cy="3124505"/>
          </a:xfrm>
          <a:prstGeom prst="rect">
            <a:avLst/>
          </a:prstGeom>
          <a:solidFill>
            <a:srgbClr val="F9F9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rcRect l="-20" r="-20"/>
          <a:stretch/>
        </p:blipFill>
        <p:spPr>
          <a:xfrm>
            <a:off x="7825435" y="2615184"/>
            <a:ext cx="2623414" cy="64008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978140" y="2729484"/>
            <a:ext cx="24003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입금했는데 택배 계속 미루다가 연락이 끊겼어요. 번개장터 계좌이체예요.</a:t>
            </a:r>
            <a:endParaRPr lang="en-US" sz="10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 t="-1" b="-1"/>
          <a:stretch/>
        </p:blipFill>
        <p:spPr>
          <a:xfrm>
            <a:off x="7362749" y="3398825"/>
            <a:ext cx="2582266" cy="244602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7524598" y="3522269"/>
            <a:ext cx="249448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🚨 지금 바로 이 순서대로 하세요!</a:t>
            </a:r>
            <a:endParaRPr lang="en-US" sz="1000" dirty="0"/>
          </a:p>
        </p:txBody>
      </p:sp>
      <p:sp>
        <p:nvSpPr>
          <p:cNvPr id="26" name="Shape 16"/>
          <p:cNvSpPr/>
          <p:nvPr/>
        </p:nvSpPr>
        <p:spPr>
          <a:xfrm>
            <a:off x="7524598" y="3823106"/>
            <a:ext cx="2266798" cy="352044"/>
          </a:xfrm>
          <a:prstGeom prst="roundRect">
            <a:avLst>
              <a:gd name="adj" fmla="val 112320"/>
            </a:avLst>
          </a:prstGeom>
          <a:solidFill>
            <a:srgbClr val="F5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7" name="Shape 17"/>
          <p:cNvSpPr/>
          <p:nvPr/>
        </p:nvSpPr>
        <p:spPr>
          <a:xfrm>
            <a:off x="7638898" y="3903574"/>
            <a:ext cx="190195" cy="190195"/>
          </a:xfrm>
          <a:prstGeom prst="ellipse">
            <a:avLst/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8" name="Text 18"/>
          <p:cNvSpPr/>
          <p:nvPr/>
        </p:nvSpPr>
        <p:spPr>
          <a:xfrm>
            <a:off x="7601407" y="3903574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800" dirty="0"/>
          </a:p>
        </p:txBody>
      </p:sp>
      <p:sp>
        <p:nvSpPr>
          <p:cNvPr id="29" name="Text 19"/>
          <p:cNvSpPr txBox="1"/>
          <p:nvPr/>
        </p:nvSpPr>
        <p:spPr>
          <a:xfrm>
            <a:off x="7925105" y="3901745"/>
            <a:ext cx="8842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계좌 지급정지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9122969" y="3899916"/>
            <a:ext cx="552298" cy="200254"/>
          </a:xfrm>
          <a:prstGeom prst="roundRect">
            <a:avLst>
              <a:gd name="adj" fmla="val 173951"/>
            </a:avLst>
          </a:prstGeom>
          <a:solidFill>
            <a:srgbClr val="FFED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1" name="Text 21"/>
          <p:cNvSpPr txBox="1"/>
          <p:nvPr/>
        </p:nvSpPr>
        <p:spPr>
          <a:xfrm>
            <a:off x="9122969" y="3899916"/>
            <a:ext cx="62910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32F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골든타임!</a:t>
            </a:r>
            <a:endParaRPr lang="en-US" sz="800" dirty="0"/>
          </a:p>
        </p:txBody>
      </p:sp>
      <p:sp>
        <p:nvSpPr>
          <p:cNvPr id="32" name="Shape 22"/>
          <p:cNvSpPr/>
          <p:nvPr/>
        </p:nvSpPr>
        <p:spPr>
          <a:xfrm>
            <a:off x="7524598" y="4250131"/>
            <a:ext cx="2266798" cy="352044"/>
          </a:xfrm>
          <a:prstGeom prst="roundRect">
            <a:avLst>
              <a:gd name="adj" fmla="val 112320"/>
            </a:avLst>
          </a:prstGeom>
          <a:solidFill>
            <a:srgbClr val="F5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3" name="Shape 23"/>
          <p:cNvSpPr/>
          <p:nvPr/>
        </p:nvSpPr>
        <p:spPr>
          <a:xfrm>
            <a:off x="7638898" y="4328770"/>
            <a:ext cx="190195" cy="190195"/>
          </a:xfrm>
          <a:prstGeom prst="ellipse">
            <a:avLst/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4" name="Text 24"/>
          <p:cNvSpPr/>
          <p:nvPr/>
        </p:nvSpPr>
        <p:spPr>
          <a:xfrm>
            <a:off x="7601407" y="4328770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00" dirty="0"/>
          </a:p>
        </p:txBody>
      </p:sp>
      <p:sp>
        <p:nvSpPr>
          <p:cNvPr id="35" name="Text 25"/>
          <p:cNvSpPr txBox="1"/>
          <p:nvPr/>
        </p:nvSpPr>
        <p:spPr>
          <a:xfrm>
            <a:off x="7925105" y="4326026"/>
            <a:ext cx="12326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번개장터 신고 접수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7524598" y="4673498"/>
            <a:ext cx="2266798" cy="352044"/>
          </a:xfrm>
          <a:prstGeom prst="roundRect">
            <a:avLst>
              <a:gd name="adj" fmla="val 112320"/>
            </a:avLst>
          </a:prstGeom>
          <a:solidFill>
            <a:srgbClr val="F5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7" name="Shape 27"/>
          <p:cNvSpPr/>
          <p:nvPr/>
        </p:nvSpPr>
        <p:spPr>
          <a:xfrm>
            <a:off x="7638898" y="4751222"/>
            <a:ext cx="190195" cy="190195"/>
          </a:xfrm>
          <a:prstGeom prst="ellipse">
            <a:avLst/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8" name="Text 28"/>
          <p:cNvSpPr/>
          <p:nvPr/>
        </p:nvSpPr>
        <p:spPr>
          <a:xfrm>
            <a:off x="7601407" y="4751222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800" dirty="0"/>
          </a:p>
        </p:txBody>
      </p:sp>
      <p:sp>
        <p:nvSpPr>
          <p:cNvPr id="39" name="Text 29"/>
          <p:cNvSpPr txBox="1"/>
          <p:nvPr/>
        </p:nvSpPr>
        <p:spPr>
          <a:xfrm>
            <a:off x="7925105" y="4749394"/>
            <a:ext cx="17437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내용증명 발송 (직접 가능)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524598" y="5095951"/>
            <a:ext cx="2266798" cy="352044"/>
          </a:xfrm>
          <a:prstGeom prst="roundRect">
            <a:avLst>
              <a:gd name="adj" fmla="val 112320"/>
            </a:avLst>
          </a:prstGeom>
          <a:solidFill>
            <a:srgbClr val="F5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1" name="Shape 31"/>
          <p:cNvSpPr/>
          <p:nvPr/>
        </p:nvSpPr>
        <p:spPr>
          <a:xfrm>
            <a:off x="7638898" y="5174590"/>
            <a:ext cx="190195" cy="190195"/>
          </a:xfrm>
          <a:prstGeom prst="ellipse">
            <a:avLst/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2" name="Text 32"/>
          <p:cNvSpPr/>
          <p:nvPr/>
        </p:nvSpPr>
        <p:spPr>
          <a:xfrm>
            <a:off x="7601407" y="5174590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800" dirty="0"/>
          </a:p>
        </p:txBody>
      </p:sp>
      <p:sp>
        <p:nvSpPr>
          <p:cNvPr id="43" name="Text 33"/>
          <p:cNvSpPr txBox="1"/>
          <p:nvPr/>
        </p:nvSpPr>
        <p:spPr>
          <a:xfrm>
            <a:off x="7925105" y="5172761"/>
            <a:ext cx="13670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경찰 사이버범죄 신고</a:t>
            </a:r>
            <a:endParaRPr lang="en-US" sz="1000" dirty="0"/>
          </a:p>
        </p:txBody>
      </p:sp>
      <p:sp>
        <p:nvSpPr>
          <p:cNvPr id="44" name="Text 34"/>
          <p:cNvSpPr txBox="1"/>
          <p:nvPr/>
        </p:nvSpPr>
        <p:spPr>
          <a:xfrm>
            <a:off x="7682789" y="5538521"/>
            <a:ext cx="237926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각 단계별 상세 가이드를 제공해드릴까요? </a:t>
            </a:r>
            <a:endParaRPr lang="en-US" sz="900" dirty="0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524598" y="5572354"/>
            <a:ext cx="123444" cy="123444"/>
          </a:xfrm>
          <a:prstGeom prst="rect">
            <a:avLst/>
          </a:prstGeom>
        </p:spPr>
      </p:pic>
      <p:sp>
        <p:nvSpPr>
          <p:cNvPr id="46" name="Shape 35"/>
          <p:cNvSpPr/>
          <p:nvPr/>
        </p:nvSpPr>
        <p:spPr>
          <a:xfrm>
            <a:off x="7172554" y="5544007"/>
            <a:ext cx="3467405" cy="63825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47" name="Shape 36"/>
          <p:cNvSpPr/>
          <p:nvPr/>
        </p:nvSpPr>
        <p:spPr>
          <a:xfrm>
            <a:off x="7172554" y="5544007"/>
            <a:ext cx="34674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8" name="Shape 37"/>
          <p:cNvSpPr/>
          <p:nvPr/>
        </p:nvSpPr>
        <p:spPr>
          <a:xfrm>
            <a:off x="7315200" y="5695798"/>
            <a:ext cx="2743200" cy="342900"/>
          </a:xfrm>
          <a:prstGeom prst="roundRect">
            <a:avLst>
              <a:gd name="adj" fmla="val 266667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9" name="Text 38"/>
          <p:cNvSpPr/>
          <p:nvPr/>
        </p:nvSpPr>
        <p:spPr>
          <a:xfrm>
            <a:off x="7276795" y="5695798"/>
            <a:ext cx="282001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네, 알려주세요...</a:t>
            </a:r>
            <a:endParaRPr lang="en-US" sz="1000" dirty="0"/>
          </a:p>
        </p:txBody>
      </p:sp>
      <p:sp>
        <p:nvSpPr>
          <p:cNvPr id="50" name="Shape 39"/>
          <p:cNvSpPr/>
          <p:nvPr/>
        </p:nvSpPr>
        <p:spPr>
          <a:xfrm>
            <a:off x="10153498" y="5695798"/>
            <a:ext cx="342900" cy="342900"/>
          </a:xfrm>
          <a:prstGeom prst="ellipse">
            <a:avLst/>
          </a:prstGeom>
          <a:solidFill>
            <a:srgbClr val="1C1C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12"/>
          <a:srcRect t="-100" b="-100"/>
          <a:stretch/>
        </p:blipFill>
        <p:spPr>
          <a:xfrm>
            <a:off x="10267798" y="5790895"/>
            <a:ext cx="114300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50117" y="6248095"/>
            <a:ext cx="247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A84C">
                    <a:alpha val="6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476402"/>
            <a:ext cx="1085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기능 (MVP)</a:t>
            </a:r>
            <a:endParaRPr lang="en-US" sz="3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761695" y="1143000"/>
            <a:ext cx="476402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-10" b="-10"/>
          <a:stretch/>
        </p:blipFill>
        <p:spPr>
          <a:xfrm>
            <a:off x="761695" y="1709928"/>
            <a:ext cx="3396996" cy="20958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61695" y="1709928"/>
            <a:ext cx="3377794" cy="38405"/>
          </a:xfrm>
          <a:prstGeom prst="rect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Shape 5"/>
          <p:cNvSpPr/>
          <p:nvPr/>
        </p:nvSpPr>
        <p:spPr>
          <a:xfrm>
            <a:off x="1057046" y="2005279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81405" y="2128723"/>
            <a:ext cx="228600" cy="2286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3460090" y="2005279"/>
            <a:ext cx="5056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2F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057046" y="2694737"/>
            <a:ext cx="30010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사기 유형 자동 감지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1057046" y="3076042"/>
            <a:ext cx="28867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입력 내용을 분석하여 잠수, 먹튀, 가짜 안전결제 등 사기 유형을 즉시 판별합니다.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 t="-12" b="-12"/>
          <a:stretch/>
        </p:blipFill>
        <p:spPr>
          <a:xfrm>
            <a:off x="4397350" y="1709928"/>
            <a:ext cx="3396996" cy="209580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4397350" y="1709928"/>
            <a:ext cx="3378708" cy="38405"/>
          </a:xfrm>
          <a:prstGeom prst="rect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Shape 10"/>
          <p:cNvSpPr/>
          <p:nvPr/>
        </p:nvSpPr>
        <p:spPr>
          <a:xfrm>
            <a:off x="4692701" y="2005279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816145" y="2128723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047281" y="2005279"/>
            <a:ext cx="5340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2F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3000" dirty="0"/>
          </a:p>
        </p:txBody>
      </p:sp>
      <p:sp>
        <p:nvSpPr>
          <p:cNvPr id="20" name="Text 12"/>
          <p:cNvSpPr txBox="1"/>
          <p:nvPr/>
        </p:nvSpPr>
        <p:spPr>
          <a:xfrm>
            <a:off x="4692701" y="2624328"/>
            <a:ext cx="30010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단계별 대처법 안내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4692701" y="3004718"/>
            <a:ext cx="2886761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골든타임을 놓치지 않도록 지급정지부터 플랫폼 신고, 경찰 접수까지 순서대로 안내합니다.</a:t>
            </a:r>
            <a:endParaRPr lang="en-US" sz="11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rcRect t="-10" b="-10"/>
          <a:stretch/>
        </p:blipFill>
        <p:spPr>
          <a:xfrm>
            <a:off x="8033004" y="1709928"/>
            <a:ext cx="3396996" cy="209580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8033004" y="1709928"/>
            <a:ext cx="3377794" cy="38405"/>
          </a:xfrm>
          <a:prstGeom prst="rect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4" name="Shape 15"/>
          <p:cNvSpPr/>
          <p:nvPr/>
        </p:nvSpPr>
        <p:spPr>
          <a:xfrm>
            <a:off x="8328355" y="2005279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8437169" y="2128723"/>
            <a:ext cx="256946" cy="22860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0682935" y="2005279"/>
            <a:ext cx="5340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2F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3000" dirty="0"/>
          </a:p>
        </p:txBody>
      </p:sp>
      <p:sp>
        <p:nvSpPr>
          <p:cNvPr id="27" name="Text 17"/>
          <p:cNvSpPr txBox="1"/>
          <p:nvPr/>
        </p:nvSpPr>
        <p:spPr>
          <a:xfrm>
            <a:off x="8328355" y="2694737"/>
            <a:ext cx="30010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내용증명 작성 가이드</a:t>
            </a:r>
            <a:endParaRPr lang="en-US" sz="1500" dirty="0"/>
          </a:p>
        </p:txBody>
      </p:sp>
      <p:sp>
        <p:nvSpPr>
          <p:cNvPr id="28" name="Text 18"/>
          <p:cNvSpPr txBox="1"/>
          <p:nvPr/>
        </p:nvSpPr>
        <p:spPr>
          <a:xfrm>
            <a:off x="8328355" y="3076042"/>
            <a:ext cx="28867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법률 용어 없이도 누구나 쉽게 작성할 수 있는 내용증명 가이드와 예시 문구를 제공합니다.</a:t>
            </a:r>
            <a:endParaRPr lang="en-US" sz="11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0"/>
          <a:srcRect t="-4" b="-4"/>
          <a:stretch/>
        </p:blipFill>
        <p:spPr>
          <a:xfrm>
            <a:off x="2575865" y="4043477"/>
            <a:ext cx="3401568" cy="209580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2575865" y="4043477"/>
            <a:ext cx="3382366" cy="38405"/>
          </a:xfrm>
          <a:prstGeom prst="rect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1" name="Shape 20"/>
          <p:cNvSpPr/>
          <p:nvPr/>
        </p:nvSpPr>
        <p:spPr>
          <a:xfrm>
            <a:off x="2871216" y="4338828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1"/>
          <a:srcRect l="-80" r="-80"/>
          <a:stretch/>
        </p:blipFill>
        <p:spPr>
          <a:xfrm>
            <a:off x="2966314" y="4462272"/>
            <a:ext cx="286207" cy="22860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5229454" y="4338828"/>
            <a:ext cx="5340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2F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3000" dirty="0"/>
          </a:p>
        </p:txBody>
      </p:sp>
      <p:sp>
        <p:nvSpPr>
          <p:cNvPr id="34" name="Text 22"/>
          <p:cNvSpPr txBox="1"/>
          <p:nvPr/>
        </p:nvSpPr>
        <p:spPr>
          <a:xfrm>
            <a:off x="2871216" y="5028286"/>
            <a:ext cx="30102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고소장 작성 템플릿</a:t>
            </a:r>
            <a:endParaRPr lang="en-US" sz="1500" dirty="0"/>
          </a:p>
        </p:txBody>
      </p:sp>
      <p:sp>
        <p:nvSpPr>
          <p:cNvPr id="35" name="Text 23"/>
          <p:cNvSpPr txBox="1"/>
          <p:nvPr/>
        </p:nvSpPr>
        <p:spPr>
          <a:xfrm>
            <a:off x="2871216" y="5409590"/>
            <a:ext cx="28959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경찰서 제출용 표준 고소장 양식을 제공하며, 빈칸 채우기 방식으로 쉽게 완성할 수 있습니다.</a:t>
            </a:r>
            <a:endParaRPr lang="en-US" sz="11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0"/>
          <a:srcRect t="-4" b="-4"/>
          <a:stretch/>
        </p:blipFill>
        <p:spPr>
          <a:xfrm>
            <a:off x="6215177" y="4043477"/>
            <a:ext cx="3401568" cy="209580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6215177" y="4043477"/>
            <a:ext cx="3382366" cy="38405"/>
          </a:xfrm>
          <a:prstGeom prst="rect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8" name="Shape 25"/>
          <p:cNvSpPr/>
          <p:nvPr/>
        </p:nvSpPr>
        <p:spPr>
          <a:xfrm>
            <a:off x="6510528" y="4338828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2"/>
          <a:srcRect l="-133" r="-133"/>
          <a:stretch/>
        </p:blipFill>
        <p:spPr>
          <a:xfrm>
            <a:off x="6662318" y="4462272"/>
            <a:ext cx="171907" cy="228600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8868766" y="4338828"/>
            <a:ext cx="5340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2F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05</a:t>
            </a:r>
            <a:endParaRPr lang="en-US" sz="3000" dirty="0"/>
          </a:p>
        </p:txBody>
      </p:sp>
      <p:sp>
        <p:nvSpPr>
          <p:cNvPr id="41" name="Text 27"/>
          <p:cNvSpPr txBox="1"/>
          <p:nvPr/>
        </p:nvSpPr>
        <p:spPr>
          <a:xfrm>
            <a:off x="6510528" y="4957877"/>
            <a:ext cx="30102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증거 수집 체크리스트</a:t>
            </a:r>
            <a:endParaRPr lang="en-US" sz="1500" dirty="0"/>
          </a:p>
        </p:txBody>
      </p:sp>
      <p:sp>
        <p:nvSpPr>
          <p:cNvPr id="42" name="Text 28"/>
          <p:cNvSpPr txBox="1"/>
          <p:nvPr/>
        </p:nvSpPr>
        <p:spPr>
          <a:xfrm>
            <a:off x="6510528" y="5339182"/>
            <a:ext cx="28959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이체확인증, 대화 내역 캡처 등 법적 효력이 있는 필수 증거 자료 목록을 체크리스트로 제공합니다.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51946" y="6248095"/>
            <a:ext cx="247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A84C">
                    <a:alpha val="6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476402"/>
            <a:ext cx="1097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기술 구성</a:t>
            </a:r>
            <a:endParaRPr lang="en-US" sz="3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761695" y="1143000"/>
            <a:ext cx="476402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-6" b="-6"/>
          <a:stretch/>
        </p:blipFill>
        <p:spPr>
          <a:xfrm>
            <a:off x="761695" y="1561795"/>
            <a:ext cx="3301898" cy="187634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61695" y="1561795"/>
            <a:ext cx="38405" cy="1857146"/>
          </a:xfrm>
          <a:prstGeom prst="rect">
            <a:avLst/>
          </a:prstGeom>
          <a:solidFill>
            <a:srgbClr val="EAE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Shape 5"/>
          <p:cNvSpPr/>
          <p:nvPr/>
        </p:nvSpPr>
        <p:spPr>
          <a:xfrm>
            <a:off x="1009498" y="1809598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333" b="-333"/>
          <a:stretch/>
        </p:blipFill>
        <p:spPr>
          <a:xfrm>
            <a:off x="1076249" y="1910182"/>
            <a:ext cx="342900" cy="276149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09498" y="2428646"/>
            <a:ext cx="29224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1009498" y="2670962"/>
            <a:ext cx="292242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HTML/CSS/JS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1009498" y="2984602"/>
            <a:ext cx="30010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직관적인 채팅 UI 구현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 t="-8" b="-8"/>
          <a:stretch/>
        </p:blipFill>
        <p:spPr>
          <a:xfrm>
            <a:off x="4254703" y="1561795"/>
            <a:ext cx="3301898" cy="1876349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4254703" y="1561795"/>
            <a:ext cx="38405" cy="1857146"/>
          </a:xfrm>
          <a:prstGeom prst="rect">
            <a:avLst/>
          </a:prstGeom>
          <a:solidFill>
            <a:srgbClr val="EAE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Shape 10"/>
          <p:cNvSpPr/>
          <p:nvPr/>
        </p:nvSpPr>
        <p:spPr>
          <a:xfrm>
            <a:off x="4502506" y="1809598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602175" y="1910182"/>
            <a:ext cx="276149" cy="276149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502506" y="2428646"/>
            <a:ext cx="29224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Backend</a:t>
            </a:r>
            <a:endParaRPr lang="en-US" sz="1000" dirty="0"/>
          </a:p>
        </p:txBody>
      </p:sp>
      <p:sp>
        <p:nvSpPr>
          <p:cNvPr id="20" name="Text 12"/>
          <p:cNvSpPr txBox="1"/>
          <p:nvPr/>
        </p:nvSpPr>
        <p:spPr>
          <a:xfrm>
            <a:off x="4502506" y="2670962"/>
            <a:ext cx="292242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Python + FastAPI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4502506" y="2984602"/>
            <a:ext cx="30010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고성능 비동기 처리 서버</a:t>
            </a:r>
            <a:endParaRPr lang="en-US" sz="10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rcRect l="-8" r="-8"/>
          <a:stretch/>
        </p:blipFill>
        <p:spPr>
          <a:xfrm>
            <a:off x="761695" y="3628339"/>
            <a:ext cx="3301898" cy="1885493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761695" y="3628339"/>
            <a:ext cx="38405" cy="1867205"/>
          </a:xfrm>
          <a:prstGeom prst="rect">
            <a:avLst/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4" name="Shape 15"/>
          <p:cNvSpPr/>
          <p:nvPr/>
        </p:nvSpPr>
        <p:spPr>
          <a:xfrm>
            <a:off x="1009498" y="3876142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10082" y="3976726"/>
            <a:ext cx="276149" cy="276149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009498" y="4495190"/>
            <a:ext cx="29224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27" name="Text 17"/>
          <p:cNvSpPr txBox="1"/>
          <p:nvPr/>
        </p:nvSpPr>
        <p:spPr>
          <a:xfrm>
            <a:off x="1009498" y="4737506"/>
            <a:ext cx="292242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OpenAI API </a:t>
            </a:r>
            <a:r>
              <a:rPr lang="en-US" sz="900" b="1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(GPT-4o-mini)</a:t>
            </a:r>
            <a:endParaRPr lang="en-US" sz="1500" dirty="0"/>
          </a:p>
        </p:txBody>
      </p:sp>
      <p:sp>
        <p:nvSpPr>
          <p:cNvPr id="28" name="Text 18"/>
          <p:cNvSpPr txBox="1"/>
          <p:nvPr/>
        </p:nvSpPr>
        <p:spPr>
          <a:xfrm>
            <a:off x="1009498" y="5061204"/>
            <a:ext cx="30010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저비용 고성능 추론 엔진</a:t>
            </a:r>
            <a:endParaRPr lang="en-US" sz="10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rcRect l="-6" r="-6"/>
          <a:stretch/>
        </p:blipFill>
        <p:spPr>
          <a:xfrm>
            <a:off x="4254703" y="3628339"/>
            <a:ext cx="3301898" cy="1885493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4254703" y="3628339"/>
            <a:ext cx="38405" cy="1867205"/>
          </a:xfrm>
          <a:prstGeom prst="rect">
            <a:avLst/>
          </a:prstGeom>
          <a:solidFill>
            <a:srgbClr val="EAE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1" name="Shape 20"/>
          <p:cNvSpPr/>
          <p:nvPr/>
        </p:nvSpPr>
        <p:spPr>
          <a:xfrm>
            <a:off x="4502506" y="3876142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2"/>
          <a:srcRect t="-817" b="-817"/>
          <a:stretch/>
        </p:blipFill>
        <p:spPr>
          <a:xfrm>
            <a:off x="4621378" y="3976726"/>
            <a:ext cx="237744" cy="276149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4502506" y="4495190"/>
            <a:ext cx="29224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4502506" y="4737506"/>
            <a:ext cx="292242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Supabase</a:t>
            </a:r>
            <a:endParaRPr lang="en-US" sz="1500" dirty="0"/>
          </a:p>
        </p:txBody>
      </p:sp>
      <p:sp>
        <p:nvSpPr>
          <p:cNvPr id="35" name="Text 23"/>
          <p:cNvSpPr txBox="1"/>
          <p:nvPr/>
        </p:nvSpPr>
        <p:spPr>
          <a:xfrm>
            <a:off x="4502506" y="5051146"/>
            <a:ext cx="30010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데이터베이스 &amp; Auth</a:t>
            </a:r>
            <a:endParaRPr lang="en-US" sz="10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3"/>
          <a:srcRect l="-13" r="-13"/>
          <a:stretch/>
        </p:blipFill>
        <p:spPr>
          <a:xfrm>
            <a:off x="761695" y="5444744"/>
            <a:ext cx="6794906" cy="1345997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761695" y="5196942"/>
            <a:ext cx="38405" cy="1574597"/>
          </a:xfrm>
          <a:prstGeom prst="rect">
            <a:avLst/>
          </a:prstGeom>
          <a:solidFill>
            <a:srgbClr val="EAE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8" name="Shape 25"/>
          <p:cNvSpPr/>
          <p:nvPr/>
        </p:nvSpPr>
        <p:spPr>
          <a:xfrm>
            <a:off x="1009498" y="5444744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4"/>
          <a:srcRect t="-333" b="-333"/>
          <a:stretch/>
        </p:blipFill>
        <p:spPr>
          <a:xfrm>
            <a:off x="1076249" y="5544414"/>
            <a:ext cx="342900" cy="276149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1009498" y="6063792"/>
            <a:ext cx="16861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41" name="Text 27"/>
          <p:cNvSpPr txBox="1"/>
          <p:nvPr/>
        </p:nvSpPr>
        <p:spPr>
          <a:xfrm>
            <a:off x="1009498" y="6306108"/>
            <a:ext cx="19074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Render + Vercel</a:t>
            </a:r>
            <a:endParaRPr lang="en-US" sz="1500" dirty="0"/>
          </a:p>
        </p:txBody>
      </p:sp>
      <p:sp>
        <p:nvSpPr>
          <p:cNvPr id="42" name="Shape 28"/>
          <p:cNvSpPr/>
          <p:nvPr/>
        </p:nvSpPr>
        <p:spPr>
          <a:xfrm>
            <a:off x="6534302" y="6179921"/>
            <a:ext cx="780898" cy="276149"/>
          </a:xfrm>
          <a:prstGeom prst="roundRect">
            <a:avLst>
              <a:gd name="adj" fmla="val 91345"/>
            </a:avLst>
          </a:prstGeom>
          <a:solidFill>
            <a:srgbClr val="EAE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3" name="Text 29"/>
          <p:cNvSpPr txBox="1"/>
          <p:nvPr/>
        </p:nvSpPr>
        <p:spPr>
          <a:xfrm>
            <a:off x="6476695" y="6179921"/>
            <a:ext cx="838505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50800" rIns="1016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Serverless</a:t>
            </a:r>
            <a:endParaRPr lang="en-US" sz="900" dirty="0"/>
          </a:p>
        </p:txBody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15"/>
          <a:srcRect t="-4" b="-4"/>
          <a:stretch/>
        </p:blipFill>
        <p:spPr>
          <a:xfrm>
            <a:off x="8033004" y="1561795"/>
            <a:ext cx="3396996" cy="5296205"/>
          </a:xfrm>
          <a:prstGeom prst="rect">
            <a:avLst/>
          </a:prstGeom>
        </p:spPr>
      </p:pic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16">
            <a:alphaModFix amt="10000"/>
          </a:blip>
          <a:srcRect t="-148" b="-148"/>
          <a:stretch/>
        </p:blipFill>
        <p:spPr>
          <a:xfrm>
            <a:off x="8033004" y="5155679"/>
            <a:ext cx="3400654" cy="1705356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8548726" y="2807208"/>
            <a:ext cx="23692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66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Monthly Operation Cost</a:t>
            </a:r>
            <a:endParaRPr lang="en-US" sz="1300" dirty="0"/>
          </a:p>
        </p:txBody>
      </p:sp>
      <p:sp>
        <p:nvSpPr>
          <p:cNvPr id="47" name="Text 31"/>
          <p:cNvSpPr txBox="1"/>
          <p:nvPr/>
        </p:nvSpPr>
        <p:spPr>
          <a:xfrm>
            <a:off x="8040851" y="3186455"/>
            <a:ext cx="3153767" cy="107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C9A84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~</a:t>
            </a:r>
            <a:r>
              <a:rPr lang="en-US" altLang="ko-KR" sz="5400" b="1" dirty="0">
                <a:solidFill>
                  <a:srgbClr val="C9A84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10</a:t>
            </a:r>
            <a:r>
              <a:rPr lang="en-US" sz="5400" b="1" dirty="0">
                <a:solidFill>
                  <a:srgbClr val="C9A84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,000</a:t>
            </a:r>
            <a:endParaRPr lang="en-US" sz="5400" dirty="0"/>
          </a:p>
        </p:txBody>
      </p:sp>
      <p:sp>
        <p:nvSpPr>
          <p:cNvPr id="48" name="Text 32"/>
          <p:cNvSpPr txBox="1"/>
          <p:nvPr/>
        </p:nvSpPr>
        <p:spPr>
          <a:xfrm>
            <a:off x="10653064" y="3919461"/>
            <a:ext cx="428854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AFAF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원</a:t>
            </a:r>
            <a:endParaRPr lang="en-US" sz="3000" dirty="0"/>
          </a:p>
        </p:txBody>
      </p:sp>
      <p:sp>
        <p:nvSpPr>
          <p:cNvPr id="49" name="Text 33"/>
          <p:cNvSpPr/>
          <p:nvPr/>
        </p:nvSpPr>
        <p:spPr>
          <a:xfrm>
            <a:off x="8771839" y="4658868"/>
            <a:ext cx="1922069" cy="381305"/>
          </a:xfrm>
          <a:prstGeom prst="rect">
            <a:avLst/>
          </a:prstGeom>
          <a:noFill/>
          <a:ln w="12700">
            <a:solidFill>
              <a:srgbClr val="C9A84C"/>
            </a:solidFill>
          </a:ln>
        </p:spPr>
        <p:txBody>
          <a:bodyPr wrap="square" lIns="190500" tIns="76200" rIns="1905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Low-Cost Architecture</a:t>
            </a:r>
            <a:endParaRPr lang="en-US" sz="1000" dirty="0"/>
          </a:p>
        </p:txBody>
      </p:sp>
      <p:sp>
        <p:nvSpPr>
          <p:cNvPr id="50" name="Text 34"/>
          <p:cNvSpPr txBox="1"/>
          <p:nvPr/>
        </p:nvSpPr>
        <p:spPr>
          <a:xfrm>
            <a:off x="8138161" y="5040173"/>
            <a:ext cx="310530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DD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대부분의 스택을 Free Tier로 구성하고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OpenAI API</a:t>
            </a:r>
            <a:r>
              <a:rPr lang="en-US" sz="1200" dirty="0">
                <a:solidFill>
                  <a:srgbClr val="DDDD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저비용 모델을 사용하여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DDD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초기 운영 비용을 최소화했습니다.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08481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50117" y="6248095"/>
            <a:ext cx="247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A84C">
                    <a:alpha val="6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476402"/>
            <a:ext cx="1097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타겟 고객</a:t>
            </a:r>
            <a:endParaRPr lang="en-US" sz="3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761695" y="1143000"/>
            <a:ext cx="476402" cy="384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81598" y="1834286"/>
            <a:ext cx="5239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주요 유입 채널 및 전략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6381598" y="1834286"/>
            <a:ext cx="38405" cy="228600"/>
          </a:xfrm>
          <a:prstGeom prst="rect">
            <a:avLst/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Shape 6"/>
          <p:cNvSpPr/>
          <p:nvPr/>
        </p:nvSpPr>
        <p:spPr>
          <a:xfrm>
            <a:off x="6381598" y="2463394"/>
            <a:ext cx="5048402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00000">
                <a:alpha val="5000"/>
              </a:srgbClr>
            </a:solidFill>
            <a:prstDash val="solid"/>
          </a:ln>
          <a:effectLst>
            <a:outerShdw blurRad="139700" dist="508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1" name="Shape 7"/>
          <p:cNvSpPr/>
          <p:nvPr/>
        </p:nvSpPr>
        <p:spPr>
          <a:xfrm>
            <a:off x="6676949" y="2677363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E6F4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6772046" y="2800807"/>
            <a:ext cx="286207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91095" y="2662733"/>
            <a:ext cx="33147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중고나라 카페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7391095" y="2961742"/>
            <a:ext cx="382859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사기 피해 게시판 및 사기꾼 조회 댓글을 통한 직접 홍보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381598" y="3558845"/>
            <a:ext cx="5048402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00000">
                <a:alpha val="5000"/>
              </a:srgbClr>
            </a:solidFill>
            <a:prstDash val="solid"/>
          </a:ln>
          <a:effectLst>
            <a:outerShdw blurRad="139700" dist="508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6" name="Shape 11"/>
          <p:cNvSpPr/>
          <p:nvPr/>
        </p:nvSpPr>
        <p:spPr>
          <a:xfrm>
            <a:off x="6676949" y="3772814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F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6815023" y="3896258"/>
            <a:ext cx="200254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91095" y="3758184"/>
            <a:ext cx="26956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번개장터 오픈채팅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7391095" y="4058107"/>
            <a:ext cx="30550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피해자 모임 오픈카톡방 내 솔루션 링크 공유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381598" y="4654296"/>
            <a:ext cx="5048402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00000">
                <a:alpha val="5000"/>
              </a:srgbClr>
            </a:solidFill>
            <a:prstDash val="solid"/>
          </a:ln>
          <a:effectLst>
            <a:outerShdw blurRad="139700" dist="508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21" name="Shape 15"/>
          <p:cNvSpPr/>
          <p:nvPr/>
        </p:nvSpPr>
        <p:spPr>
          <a:xfrm>
            <a:off x="6676949" y="4868266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E8F0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801307" y="4991710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391095" y="4853635"/>
            <a:ext cx="34582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네이버 블로그 / SEO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7391095" y="5153558"/>
            <a:ext cx="407548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"중고거래 사기 대처법", "지급정지 방법" 검색어 상위 노출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381598" y="5749747"/>
            <a:ext cx="5048402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00000">
                <a:alpha val="5000"/>
              </a:srgbClr>
            </a:solidFill>
            <a:prstDash val="solid"/>
          </a:ln>
          <a:effectLst>
            <a:outerShdw blurRad="139700" dist="508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26" name="Shape 19"/>
          <p:cNvSpPr/>
          <p:nvPr/>
        </p:nvSpPr>
        <p:spPr>
          <a:xfrm>
            <a:off x="6676949" y="5963717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1F3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6772046" y="6088075"/>
            <a:ext cx="286207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391095" y="5950001"/>
            <a:ext cx="31345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디시인사이드 중고장터 갤러리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7391095" y="6249010"/>
            <a:ext cx="371337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피해 후기 및 해결 썰(Ssul) 형식을 통한 바이럴</a:t>
            </a:r>
            <a:endParaRPr lang="en-US" sz="10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 l="-2" r="-2"/>
          <a:stretch/>
        </p:blipFill>
        <p:spPr>
          <a:xfrm>
            <a:off x="761695" y="1561796"/>
            <a:ext cx="5048402" cy="5142588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4572000" y="1371600"/>
            <a:ext cx="1429207" cy="1429207"/>
          </a:xfrm>
          <a:prstGeom prst="ellipse">
            <a:avLst/>
          </a:prstGeom>
          <a:noFill/>
          <a:ln w="254000">
            <a:solidFill>
              <a:srgbClr val="C9A84C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2" name="Shape 23"/>
          <p:cNvSpPr/>
          <p:nvPr/>
        </p:nvSpPr>
        <p:spPr>
          <a:xfrm>
            <a:off x="1143000" y="2895905"/>
            <a:ext cx="4286707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3" name="Shape 24"/>
          <p:cNvSpPr/>
          <p:nvPr/>
        </p:nvSpPr>
        <p:spPr>
          <a:xfrm>
            <a:off x="1143000" y="1943100"/>
            <a:ext cx="761695" cy="761695"/>
          </a:xfrm>
          <a:prstGeom prst="ellipse">
            <a:avLst/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rcRect l="-17" r="-17"/>
          <a:stretch/>
        </p:blipFill>
        <p:spPr>
          <a:xfrm>
            <a:off x="1356970" y="2133295"/>
            <a:ext cx="333756" cy="38130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2095805" y="1980590"/>
            <a:ext cx="124541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김민준</a:t>
            </a:r>
            <a:endParaRPr lang="en-US" sz="2100" dirty="0"/>
          </a:p>
        </p:txBody>
      </p:sp>
      <p:sp>
        <p:nvSpPr>
          <p:cNvPr id="36" name="Text 26"/>
          <p:cNvSpPr txBox="1"/>
          <p:nvPr/>
        </p:nvSpPr>
        <p:spPr>
          <a:xfrm>
            <a:off x="2095805" y="2439619"/>
            <a:ext cx="142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27세 / 사회초년생</a:t>
            </a:r>
            <a:endParaRPr lang="en-US" sz="1200" dirty="0"/>
          </a:p>
        </p:txBody>
      </p:sp>
      <p:sp>
        <p:nvSpPr>
          <p:cNvPr id="37" name="Text 27"/>
          <p:cNvSpPr txBox="1"/>
          <p:nvPr/>
        </p:nvSpPr>
        <p:spPr>
          <a:xfrm>
            <a:off x="1143000" y="3191256"/>
            <a:ext cx="44010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4" dirty="0">
                <a:solidFill>
                  <a:srgbClr val="C9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CURRENT SCENARIO</a:t>
            </a:r>
            <a:endParaRPr lang="en-US" sz="1000" dirty="0"/>
          </a:p>
        </p:txBody>
      </p:sp>
      <p:sp>
        <p:nvSpPr>
          <p:cNvPr id="38" name="Text 28"/>
          <p:cNvSpPr txBox="1"/>
          <p:nvPr/>
        </p:nvSpPr>
        <p:spPr>
          <a:xfrm>
            <a:off x="1143000" y="3492094"/>
            <a:ext cx="4362602" cy="107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DDD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"번개장터에서 20만원짜리 유니폼을 구매하고 입금했는데, 판매자가 택배를 미루다가 잠수를 탔어요. 경찰에 신고는 해야겠는데 복잡할 것 같고, 변호사를 쓰기엔 금액이 애매해서 막막해요." </a:t>
            </a:r>
            <a:endParaRPr lang="en-US" sz="1300" dirty="0"/>
          </a:p>
        </p:txBody>
      </p:sp>
      <p:sp>
        <p:nvSpPr>
          <p:cNvPr id="39" name="Shape 29"/>
          <p:cNvSpPr/>
          <p:nvPr/>
        </p:nvSpPr>
        <p:spPr>
          <a:xfrm>
            <a:off x="1143000" y="4850892"/>
            <a:ext cx="2048256" cy="1695298"/>
          </a:xfrm>
          <a:prstGeom prst="roundRect">
            <a:avLst>
              <a:gd name="adj" fmla="val 72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0" name="Text 30"/>
          <p:cNvSpPr txBox="1"/>
          <p:nvPr/>
        </p:nvSpPr>
        <p:spPr>
          <a:xfrm>
            <a:off x="1542593" y="5041087"/>
            <a:ext cx="15343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Pain Point </a:t>
            </a:r>
            <a:endParaRPr lang="en-US" sz="1000" dirty="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333195" y="5076749"/>
            <a:ext cx="133502" cy="133502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1333195" y="5341925"/>
            <a:ext cx="17337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법적 절차에 대한 무지,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복잡한 신고 과정,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비용 부담에 대한 걱정 </a:t>
            </a:r>
            <a:endParaRPr lang="en-US" sz="1100" dirty="0"/>
          </a:p>
        </p:txBody>
      </p:sp>
      <p:sp>
        <p:nvSpPr>
          <p:cNvPr id="43" name="Shape 32"/>
          <p:cNvSpPr/>
          <p:nvPr/>
        </p:nvSpPr>
        <p:spPr>
          <a:xfrm>
            <a:off x="3381451" y="4850892"/>
            <a:ext cx="2048256" cy="1695298"/>
          </a:xfrm>
          <a:prstGeom prst="roundRect">
            <a:avLst>
              <a:gd name="adj" fmla="val 72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4" name="Text 33"/>
          <p:cNvSpPr txBox="1"/>
          <p:nvPr/>
        </p:nvSpPr>
        <p:spPr>
          <a:xfrm>
            <a:off x="3781044" y="5041087"/>
            <a:ext cx="15343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CD9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Needs </a:t>
            </a:r>
            <a:endParaRPr lang="en-US" sz="100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571646" y="5076749"/>
            <a:ext cx="133502" cy="133502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3571646" y="5341925"/>
            <a:ext cx="1733702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지금 당장 해야 할 행동 지침,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누구나 따라 할 수 있는 가이드,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무료 솔루션 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50117" y="6248095"/>
            <a:ext cx="247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A84C">
                    <a:alpha val="6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476402"/>
            <a:ext cx="1097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경쟁사 분석</a:t>
            </a:r>
            <a:endParaRPr lang="en-US" sz="3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761695" y="1143000"/>
            <a:ext cx="476402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4" r="-4"/>
          <a:stretch/>
        </p:blipFill>
        <p:spPr>
          <a:xfrm>
            <a:off x="761695" y="1638604"/>
            <a:ext cx="3319272" cy="490952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71754" y="1647749"/>
            <a:ext cx="3305556" cy="1362456"/>
          </a:xfrm>
          <a:prstGeom prst="roundRect">
            <a:avLst>
              <a:gd name="adj" fmla="val 15019"/>
            </a:avLst>
          </a:prstGeom>
          <a:solidFill>
            <a:srgbClr val="FAFAFA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0" name="Shape 5"/>
          <p:cNvSpPr/>
          <p:nvPr/>
        </p:nvSpPr>
        <p:spPr>
          <a:xfrm>
            <a:off x="771754" y="3001061"/>
            <a:ext cx="3305556" cy="9144"/>
          </a:xfrm>
          <a:prstGeom prst="roundRect">
            <a:avLst>
              <a:gd name="adj" fmla="val 2237762"/>
            </a:avLst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l="-884" r="-884"/>
          <a:stretch/>
        </p:blipFill>
        <p:spPr>
          <a:xfrm>
            <a:off x="2274113" y="1981505"/>
            <a:ext cx="295351" cy="30449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66851" y="2486254"/>
            <a:ext cx="3115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구글/포털 검색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2272284" y="3274466"/>
            <a:ext cx="305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</a:t>
            </a:r>
            <a:endParaRPr lang="en-US" sz="900" dirty="0"/>
          </a:p>
        </p:txBody>
      </p:sp>
      <p:sp>
        <p:nvSpPr>
          <p:cNvPr id="14" name="Text 8"/>
          <p:cNvSpPr txBox="1"/>
          <p:nvPr/>
        </p:nvSpPr>
        <p:spPr>
          <a:xfrm>
            <a:off x="1735531" y="3483864"/>
            <a:ext cx="137891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느림 </a:t>
            </a:r>
            <a:r>
              <a:rPr lang="en-US" sz="8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(직접 탐색)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2225650" y="3522269"/>
            <a:ext cx="73334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(직접 탐색)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2272284" y="3877056"/>
            <a:ext cx="305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2236622" y="4086454"/>
            <a:ext cx="3721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2217420" y="4478731"/>
            <a:ext cx="4096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1735531" y="4688129"/>
            <a:ext cx="137891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낮음 </a:t>
            </a:r>
            <a:r>
              <a:rPr lang="en-US" sz="8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(정보 혼재)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2225650" y="4726534"/>
            <a:ext cx="73334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(정보 혼재)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2217420" y="5080406"/>
            <a:ext cx="4096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2236622" y="5289804"/>
            <a:ext cx="3721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쉬움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2138782" y="5682996"/>
            <a:ext cx="5696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맞춤 안내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2236622" y="5892394"/>
            <a:ext cx="3721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없음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rcRect l="-4" r="-4"/>
          <a:stretch/>
        </p:blipFill>
        <p:spPr>
          <a:xfrm>
            <a:off x="4271162" y="1638605"/>
            <a:ext cx="3319272" cy="494793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281221" y="1647749"/>
            <a:ext cx="3305556" cy="1362456"/>
          </a:xfrm>
          <a:prstGeom prst="roundRect">
            <a:avLst>
              <a:gd name="adj" fmla="val 15019"/>
            </a:avLst>
          </a:prstGeom>
          <a:solidFill>
            <a:srgbClr val="FAFAFA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7" name="Shape 20"/>
          <p:cNvSpPr/>
          <p:nvPr/>
        </p:nvSpPr>
        <p:spPr>
          <a:xfrm>
            <a:off x="4281221" y="3001061"/>
            <a:ext cx="3305556" cy="9144"/>
          </a:xfrm>
          <a:prstGeom prst="roundRect">
            <a:avLst>
              <a:gd name="adj" fmla="val 2237762"/>
            </a:avLst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778094" y="1981505"/>
            <a:ext cx="304495" cy="30449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4376318" y="2486254"/>
            <a:ext cx="3115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변호사 선임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5781751" y="3274466"/>
            <a:ext cx="305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4815230" y="3483864"/>
            <a:ext cx="223205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매우 느림 </a:t>
            </a:r>
            <a:r>
              <a:rPr lang="en-US" sz="8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(상담 예약 필요)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5740603" y="3522269"/>
            <a:ext cx="106070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(상담 예약 필요)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5781751" y="3877056"/>
            <a:ext cx="305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5558638" y="4086454"/>
            <a:ext cx="752551" cy="267005"/>
          </a:xfrm>
          <a:prstGeom prst="roundRect">
            <a:avLst>
              <a:gd name="adj" fmla="val 342465"/>
            </a:avLst>
          </a:prstGeom>
          <a:solidFill>
            <a:srgbClr val="FFEB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5" name="Text 27"/>
          <p:cNvSpPr/>
          <p:nvPr/>
        </p:nvSpPr>
        <p:spPr>
          <a:xfrm>
            <a:off x="5530291" y="4086454"/>
            <a:ext cx="810158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수십만원 ~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5726887" y="4497934"/>
            <a:ext cx="4096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5140757" y="4707331"/>
            <a:ext cx="159014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 </a:t>
            </a:r>
            <a:r>
              <a:rPr lang="en-US" sz="800" b="1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(전문가 검토)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5726887" y="5099609"/>
            <a:ext cx="4096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5080406" y="5309006"/>
            <a:ext cx="170627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어려움 </a:t>
            </a:r>
            <a:r>
              <a:rPr lang="en-US" sz="8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(심리적 장벽)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5747004" y="5347411"/>
            <a:ext cx="8595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(심리적 장벽)</a:t>
            </a:r>
            <a:endParaRPr lang="en-US" sz="900" dirty="0"/>
          </a:p>
        </p:txBody>
      </p:sp>
      <p:sp>
        <p:nvSpPr>
          <p:cNvPr id="42" name="Text 34"/>
          <p:cNvSpPr txBox="1"/>
          <p:nvPr/>
        </p:nvSpPr>
        <p:spPr>
          <a:xfrm>
            <a:off x="5648249" y="5702198"/>
            <a:ext cx="5696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맞춤 안내</a:t>
            </a:r>
            <a:endParaRPr lang="en-US" sz="900" dirty="0"/>
          </a:p>
        </p:txBody>
      </p:sp>
      <p:sp>
        <p:nvSpPr>
          <p:cNvPr id="43" name="Text 35"/>
          <p:cNvSpPr txBox="1"/>
          <p:nvPr/>
        </p:nvSpPr>
        <p:spPr>
          <a:xfrm>
            <a:off x="5746090" y="5911596"/>
            <a:ext cx="3721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있음</a:t>
            </a:r>
            <a:endParaRPr lang="en-US" sz="12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8"/>
          <a:srcRect t="-1" b="-1"/>
          <a:stretch/>
        </p:blipFill>
        <p:spPr>
          <a:xfrm>
            <a:off x="7690104" y="1524304"/>
            <a:ext cx="3831336" cy="5062233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7700162" y="1534363"/>
            <a:ext cx="3819449" cy="1429207"/>
          </a:xfrm>
          <a:prstGeom prst="roundRect">
            <a:avLst>
              <a:gd name="adj" fmla="val 13649"/>
            </a:avLst>
          </a:prstGeom>
          <a:solidFill>
            <a:srgbClr val="2C2C2E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46" name="Shape 37"/>
          <p:cNvSpPr/>
          <p:nvPr/>
        </p:nvSpPr>
        <p:spPr>
          <a:xfrm>
            <a:off x="7700162" y="2954426"/>
            <a:ext cx="3819449" cy="9144"/>
          </a:xfrm>
          <a:prstGeom prst="roundRect">
            <a:avLst>
              <a:gd name="adj" fmla="val 2133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7" name="Text 38"/>
          <p:cNvSpPr txBox="1"/>
          <p:nvPr/>
        </p:nvSpPr>
        <p:spPr>
          <a:xfrm>
            <a:off x="7804404" y="2414016"/>
            <a:ext cx="36100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참교육 챗봇</a:t>
            </a:r>
            <a:endParaRPr lang="en-US" sz="1400" dirty="0"/>
          </a:p>
        </p:txBody>
      </p:sp>
      <p:sp>
        <p:nvSpPr>
          <p:cNvPr id="48" name="Text 39"/>
          <p:cNvSpPr txBox="1"/>
          <p:nvPr/>
        </p:nvSpPr>
        <p:spPr>
          <a:xfrm>
            <a:off x="9451238" y="3242462"/>
            <a:ext cx="3145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</a:t>
            </a:r>
            <a:endParaRPr lang="en-US" sz="900" dirty="0"/>
          </a:p>
        </p:txBody>
      </p:sp>
      <p:sp>
        <p:nvSpPr>
          <p:cNvPr id="49" name="Text 40"/>
          <p:cNvSpPr txBox="1"/>
          <p:nvPr/>
        </p:nvSpPr>
        <p:spPr>
          <a:xfrm>
            <a:off x="9218066" y="3461918"/>
            <a:ext cx="114848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즉시 (실시간)</a:t>
            </a:r>
            <a:endParaRPr lang="en-US" sz="1300" dirty="0"/>
          </a:p>
        </p:txBody>
      </p:sp>
      <p:sp>
        <p:nvSpPr>
          <p:cNvPr id="50" name="Text 41"/>
          <p:cNvSpPr txBox="1"/>
          <p:nvPr/>
        </p:nvSpPr>
        <p:spPr>
          <a:xfrm>
            <a:off x="9451238" y="3898087"/>
            <a:ext cx="3145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8907170" y="4118458"/>
            <a:ext cx="1399946" cy="362102"/>
          </a:xfrm>
          <a:prstGeom prst="roundRect">
            <a:avLst>
              <a:gd name="adj" fmla="val 252526"/>
            </a:avLst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2" name="Text 43"/>
          <p:cNvSpPr/>
          <p:nvPr/>
        </p:nvSpPr>
        <p:spPr>
          <a:xfrm>
            <a:off x="8878824" y="4118458"/>
            <a:ext cx="1457554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 무료 (0원)</a:t>
            </a:r>
            <a:endParaRPr lang="en-US" sz="1300" dirty="0"/>
          </a:p>
        </p:txBody>
      </p:sp>
      <p:sp>
        <p:nvSpPr>
          <p:cNvPr id="53" name="Text 44"/>
          <p:cNvSpPr txBox="1"/>
          <p:nvPr/>
        </p:nvSpPr>
        <p:spPr>
          <a:xfrm>
            <a:off x="9392717" y="4634179"/>
            <a:ext cx="4288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</a:t>
            </a:r>
            <a:endParaRPr 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8554212" y="4854550"/>
            <a:ext cx="210677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 </a:t>
            </a:r>
            <a:r>
              <a:rPr lang="en-US" sz="800" b="1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(검증된 시나리오)</a:t>
            </a:r>
            <a:endParaRPr lang="en-US" sz="1300" dirty="0"/>
          </a:p>
        </p:txBody>
      </p:sp>
      <p:sp>
        <p:nvSpPr>
          <p:cNvPr id="55" name="Text 46"/>
          <p:cNvSpPr txBox="1"/>
          <p:nvPr/>
        </p:nvSpPr>
        <p:spPr>
          <a:xfrm>
            <a:off x="9392717" y="5290718"/>
            <a:ext cx="4288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</a:t>
            </a:r>
            <a:endParaRPr lang="en-US" sz="900" dirty="0"/>
          </a:p>
        </p:txBody>
      </p:sp>
      <p:sp>
        <p:nvSpPr>
          <p:cNvPr id="56" name="Text 47"/>
          <p:cNvSpPr txBox="1"/>
          <p:nvPr/>
        </p:nvSpPr>
        <p:spPr>
          <a:xfrm>
            <a:off x="8826703" y="5511089"/>
            <a:ext cx="15663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매우 쉬움 </a:t>
            </a:r>
            <a:r>
              <a:rPr lang="en-US" sz="800" b="1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(채팅)</a:t>
            </a:r>
            <a:endParaRPr lang="en-US" sz="1300" dirty="0"/>
          </a:p>
        </p:txBody>
      </p:sp>
      <p:sp>
        <p:nvSpPr>
          <p:cNvPr id="57" name="Text 48"/>
          <p:cNvSpPr txBox="1"/>
          <p:nvPr/>
        </p:nvSpPr>
        <p:spPr>
          <a:xfrm>
            <a:off x="9314993" y="5947258"/>
            <a:ext cx="5907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맞춤 안내</a:t>
            </a:r>
            <a:endParaRPr lang="en-US" sz="900" dirty="0"/>
          </a:p>
        </p:txBody>
      </p:sp>
      <p:sp>
        <p:nvSpPr>
          <p:cNvPr id="58" name="Text 49"/>
          <p:cNvSpPr txBox="1"/>
          <p:nvPr/>
        </p:nvSpPr>
        <p:spPr>
          <a:xfrm>
            <a:off x="9117482" y="6166714"/>
            <a:ext cx="138531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있음 (개별 분석)</a:t>
            </a:r>
            <a:endParaRPr lang="en-US" sz="1300" dirty="0"/>
          </a:p>
        </p:txBody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 r:embed="rId9"/>
          <a:srcRect l="-27" r="-27"/>
          <a:stretch/>
        </p:blipFill>
        <p:spPr>
          <a:xfrm>
            <a:off x="9395460" y="1864462"/>
            <a:ext cx="428854" cy="342900"/>
          </a:xfrm>
          <a:prstGeom prst="rect">
            <a:avLst/>
          </a:prstGeom>
        </p:spPr>
      </p:pic>
      <p:pic>
        <p:nvPicPr>
          <p:cNvPr id="60" name="Image 8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8956548" y="3504895"/>
            <a:ext cx="171907" cy="190195"/>
          </a:xfrm>
          <a:prstGeom prst="rect">
            <a:avLst/>
          </a:prstGeom>
        </p:spPr>
      </p:pic>
      <p:pic>
        <p:nvPicPr>
          <p:cNvPr id="63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835847" y="6209690"/>
            <a:ext cx="190195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63833" y="6248095"/>
            <a:ext cx="238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A84C">
                    <a:alpha val="6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476402"/>
            <a:ext cx="1097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비즈니스 모델</a:t>
            </a:r>
            <a:endParaRPr lang="en-US" sz="3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761695" y="1143000"/>
            <a:ext cx="476402" cy="384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1695" y="1466698"/>
            <a:ext cx="10782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32" dirty="0">
                <a:solidFill>
                  <a:srgbClr val="C9A84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Phase 1. 현재 전략 (MVP)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61695" y="1466698"/>
            <a:ext cx="8112557" cy="9144"/>
          </a:xfrm>
          <a:prstGeom prst="rect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761695" y="3852367"/>
            <a:ext cx="10782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32" dirty="0">
                <a:solidFill>
                  <a:srgbClr val="C9A84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Phase 2. 향후 수익 모델 (Monetization)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61695" y="3852367"/>
            <a:ext cx="6520586" cy="9144"/>
          </a:xfrm>
          <a:prstGeom prst="rect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761695" y="1860804"/>
            <a:ext cx="10668305" cy="1762049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0001707" y="1385316"/>
            <a:ext cx="1904695" cy="1904695"/>
          </a:xfrm>
          <a:prstGeom prst="ellipse">
            <a:avLst/>
          </a:prstGeom>
          <a:noFill/>
          <a:ln w="25400">
            <a:solidFill>
              <a:srgbClr val="C9A84C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 9"/>
          <p:cNvSpPr txBox="1"/>
          <p:nvPr/>
        </p:nvSpPr>
        <p:spPr>
          <a:xfrm>
            <a:off x="1143000" y="2147011"/>
            <a:ext cx="41148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무료 서비스로 사용자 확보</a:t>
            </a:r>
            <a:endParaRPr lang="en-US" sz="210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2653589"/>
            <a:ext cx="469727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진입 장벽을 완전히 제거하여 트래픽 및 사기 데이터 축적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143000" y="3047695"/>
            <a:ext cx="1209751" cy="295351"/>
          </a:xfrm>
          <a:prstGeom prst="roundRect">
            <a:avLst>
              <a:gd name="adj" fmla="val 30959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 12"/>
          <p:cNvSpPr/>
          <p:nvPr/>
        </p:nvSpPr>
        <p:spPr>
          <a:xfrm>
            <a:off x="1447495" y="3047695"/>
            <a:ext cx="962863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50800" rIns="114300" bIns="508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기능 무료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1257300" y="3130906"/>
            <a:ext cx="114300" cy="13350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445106" y="3047695"/>
            <a:ext cx="1600200" cy="295351"/>
          </a:xfrm>
          <a:prstGeom prst="roundRect">
            <a:avLst>
              <a:gd name="adj" fmla="val 30959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Text 14"/>
          <p:cNvSpPr/>
          <p:nvPr/>
        </p:nvSpPr>
        <p:spPr>
          <a:xfrm>
            <a:off x="2749601" y="3047695"/>
            <a:ext cx="1359713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50800" rIns="114300" bIns="508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사기 패턴 데이터 확보</a:t>
            </a:r>
            <a:endParaRPr lang="en-US" sz="10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2559406" y="3130906"/>
            <a:ext cx="114300" cy="13350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704527" y="2387498"/>
            <a:ext cx="1347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C9A84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FREE</a:t>
            </a:r>
            <a:endParaRPr lang="en-US" sz="3600" dirty="0"/>
          </a:p>
        </p:txBody>
      </p:sp>
      <p:sp>
        <p:nvSpPr>
          <p:cNvPr id="23" name="Text 16"/>
          <p:cNvSpPr txBox="1"/>
          <p:nvPr/>
        </p:nvSpPr>
        <p:spPr>
          <a:xfrm>
            <a:off x="9685325" y="2892247"/>
            <a:ext cx="13670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 Acquisition</a:t>
            </a:r>
            <a:endParaRPr lang="en-US" sz="10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>
            <a:alphaModFix amt="60000"/>
          </a:blip>
          <a:srcRect/>
          <a:stretch/>
        </p:blipFill>
        <p:spPr>
          <a:xfrm>
            <a:off x="5982005" y="3327502"/>
            <a:ext cx="228600" cy="2286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61695" y="4246474"/>
            <a:ext cx="3400654" cy="2562149"/>
          </a:xfrm>
          <a:prstGeom prst="roundRect">
            <a:avLst>
              <a:gd name="adj" fmla="val 3184"/>
            </a:avLst>
          </a:prstGeom>
          <a:solidFill>
            <a:srgbClr val="FFFFFF"/>
          </a:solidFill>
          <a:ln w="12700">
            <a:solidFill>
              <a:srgbClr val="000000">
                <a:alpha val="5000"/>
              </a:srgbClr>
            </a:solidFill>
            <a:prstDash val="solid"/>
          </a:ln>
          <a:effectLst>
            <a:outerShdw blurRad="139700" dist="508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26" name="Shape 18"/>
          <p:cNvSpPr/>
          <p:nvPr/>
        </p:nvSpPr>
        <p:spPr>
          <a:xfrm>
            <a:off x="761695" y="4246474"/>
            <a:ext cx="3377794" cy="38405"/>
          </a:xfrm>
          <a:prstGeom prst="rect">
            <a:avLst/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7" name="Shape 19"/>
          <p:cNvSpPr/>
          <p:nvPr/>
        </p:nvSpPr>
        <p:spPr>
          <a:xfrm>
            <a:off x="1009498" y="4494276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rcRect l="-1403" r="-1403"/>
          <a:stretch/>
        </p:blipFill>
        <p:spPr>
          <a:xfrm>
            <a:off x="1114654" y="4613148"/>
            <a:ext cx="209398" cy="181051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009498" y="5055718"/>
            <a:ext cx="30961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프리미엄 기능</a:t>
            </a:r>
            <a:endParaRPr lang="en-US" sz="1400" dirty="0"/>
          </a:p>
        </p:txBody>
      </p:sp>
      <p:sp>
        <p:nvSpPr>
          <p:cNvPr id="30" name="Text 21"/>
          <p:cNvSpPr txBox="1"/>
          <p:nvPr/>
        </p:nvSpPr>
        <p:spPr>
          <a:xfrm>
            <a:off x="1009498" y="5426050"/>
            <a:ext cx="29818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서류 작업을 자동화하여 시간을 절약해주는 고급 서비스 제공</a:t>
            </a:r>
            <a:endParaRPr lang="en-US" sz="1000" dirty="0"/>
          </a:p>
        </p:txBody>
      </p:sp>
      <p:sp>
        <p:nvSpPr>
          <p:cNvPr id="31" name="Text 22"/>
          <p:cNvSpPr txBox="1"/>
          <p:nvPr/>
        </p:nvSpPr>
        <p:spPr>
          <a:xfrm>
            <a:off x="1009498" y="5837530"/>
            <a:ext cx="298185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고소장 자동 작성 (PDF)</a:t>
            </a:r>
            <a:endParaRPr lang="en-US" sz="10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법률 전문가 1:1 매칭 </a:t>
            </a:r>
            <a:endParaRPr lang="en-US" sz="1000" dirty="0"/>
          </a:p>
        </p:txBody>
      </p:sp>
      <p:sp>
        <p:nvSpPr>
          <p:cNvPr id="32" name="Text 23"/>
          <p:cNvSpPr txBox="1"/>
          <p:nvPr/>
        </p:nvSpPr>
        <p:spPr>
          <a:xfrm>
            <a:off x="1009498" y="6368796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B2C Model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4397350" y="4246474"/>
            <a:ext cx="3400654" cy="2562149"/>
          </a:xfrm>
          <a:prstGeom prst="roundRect">
            <a:avLst>
              <a:gd name="adj" fmla="val 3184"/>
            </a:avLst>
          </a:prstGeom>
          <a:solidFill>
            <a:srgbClr val="FFFFFF"/>
          </a:solidFill>
          <a:ln w="12700">
            <a:solidFill>
              <a:srgbClr val="000000">
                <a:alpha val="5000"/>
              </a:srgbClr>
            </a:solidFill>
            <a:prstDash val="solid"/>
          </a:ln>
          <a:effectLst>
            <a:outerShdw blurRad="139700" dist="508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34" name="Shape 25"/>
          <p:cNvSpPr/>
          <p:nvPr/>
        </p:nvSpPr>
        <p:spPr>
          <a:xfrm>
            <a:off x="4397350" y="4246474"/>
            <a:ext cx="3378708" cy="38405"/>
          </a:xfrm>
          <a:prstGeom prst="rect">
            <a:avLst/>
          </a:prstGeom>
          <a:solidFill>
            <a:srgbClr val="8E8E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5" name="Shape 26"/>
          <p:cNvSpPr/>
          <p:nvPr/>
        </p:nvSpPr>
        <p:spPr>
          <a:xfrm>
            <a:off x="4645152" y="4494276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rcRect t="-856" b="-856"/>
          <a:stretch/>
        </p:blipFill>
        <p:spPr>
          <a:xfrm>
            <a:off x="4787798" y="4613148"/>
            <a:ext cx="133502" cy="181051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4645152" y="5055718"/>
            <a:ext cx="30202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B2B API 제공</a:t>
            </a:r>
            <a:endParaRPr lang="en-US" sz="1400" dirty="0"/>
          </a:p>
        </p:txBody>
      </p:sp>
      <p:sp>
        <p:nvSpPr>
          <p:cNvPr id="38" name="Text 28"/>
          <p:cNvSpPr txBox="1"/>
          <p:nvPr/>
        </p:nvSpPr>
        <p:spPr>
          <a:xfrm>
            <a:off x="4645152" y="5426050"/>
            <a:ext cx="29818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중고거래 플랫폼에 사기 의심 계좌/패턴 탐지 API 솔루션 공급</a:t>
            </a:r>
            <a:endParaRPr lang="en-US" sz="1000" dirty="0"/>
          </a:p>
        </p:txBody>
      </p:sp>
      <p:sp>
        <p:nvSpPr>
          <p:cNvPr id="39" name="Text 29"/>
          <p:cNvSpPr txBox="1"/>
          <p:nvPr/>
        </p:nvSpPr>
        <p:spPr>
          <a:xfrm>
            <a:off x="4645152" y="5837530"/>
            <a:ext cx="298185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번개장터/중고나라 연동</a:t>
            </a:r>
            <a:endParaRPr lang="en-US" sz="10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사기 예방 필터링 제공 </a:t>
            </a:r>
            <a:endParaRPr lang="en-US" sz="1000" dirty="0"/>
          </a:p>
        </p:txBody>
      </p:sp>
      <p:sp>
        <p:nvSpPr>
          <p:cNvPr id="40" name="Text 30"/>
          <p:cNvSpPr txBox="1"/>
          <p:nvPr/>
        </p:nvSpPr>
        <p:spPr>
          <a:xfrm>
            <a:off x="4645152" y="6368796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B2B Model</a:t>
            </a:r>
            <a:endParaRPr lang="en-US" sz="900" dirty="0"/>
          </a:p>
        </p:txBody>
      </p:sp>
      <p:sp>
        <p:nvSpPr>
          <p:cNvPr id="41" name="Shape 31"/>
          <p:cNvSpPr/>
          <p:nvPr/>
        </p:nvSpPr>
        <p:spPr>
          <a:xfrm>
            <a:off x="8033004" y="4246474"/>
            <a:ext cx="3400654" cy="2562149"/>
          </a:xfrm>
          <a:prstGeom prst="roundRect">
            <a:avLst>
              <a:gd name="adj" fmla="val 3184"/>
            </a:avLst>
          </a:prstGeom>
          <a:solidFill>
            <a:srgbClr val="FFFFFF"/>
          </a:solidFill>
          <a:ln w="12700">
            <a:solidFill>
              <a:srgbClr val="000000">
                <a:alpha val="5000"/>
              </a:srgbClr>
            </a:solidFill>
            <a:prstDash val="solid"/>
          </a:ln>
          <a:effectLst>
            <a:outerShdw blurRad="139700" dist="508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42" name="Shape 32"/>
          <p:cNvSpPr/>
          <p:nvPr/>
        </p:nvSpPr>
        <p:spPr>
          <a:xfrm>
            <a:off x="8033004" y="4246474"/>
            <a:ext cx="3377794" cy="38405"/>
          </a:xfrm>
          <a:prstGeom prst="rect">
            <a:avLst/>
          </a:prstGeom>
          <a:solidFill>
            <a:srgbClr val="1C1C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3" name="Shape 33"/>
          <p:cNvSpPr/>
          <p:nvPr/>
        </p:nvSpPr>
        <p:spPr>
          <a:xfrm>
            <a:off x="8280806" y="4494276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rcRect l="-505" r="-505"/>
          <a:stretch/>
        </p:blipFill>
        <p:spPr>
          <a:xfrm>
            <a:off x="8375904" y="4613148"/>
            <a:ext cx="228600" cy="181051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8280806" y="5055718"/>
            <a:ext cx="30961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법무법인 제휴</a:t>
            </a:r>
            <a:endParaRPr lang="en-US" sz="1400" dirty="0"/>
          </a:p>
        </p:txBody>
      </p:sp>
      <p:sp>
        <p:nvSpPr>
          <p:cNvPr id="46" name="Text 35"/>
          <p:cNvSpPr txBox="1"/>
          <p:nvPr/>
        </p:nvSpPr>
        <p:spPr>
          <a:xfrm>
            <a:off x="8280806" y="5426050"/>
            <a:ext cx="29818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개인이 해결하기 어려운 고액/복잡한 사건을 전문 로펌으로 연결</a:t>
            </a:r>
            <a:endParaRPr lang="en-US" sz="1000" dirty="0"/>
          </a:p>
        </p:txBody>
      </p:sp>
      <p:sp>
        <p:nvSpPr>
          <p:cNvPr id="47" name="Text 36"/>
          <p:cNvSpPr txBox="1"/>
          <p:nvPr/>
        </p:nvSpPr>
        <p:spPr>
          <a:xfrm>
            <a:off x="8280806" y="5837530"/>
            <a:ext cx="298185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사건 수임 연계 수수료</a:t>
            </a:r>
            <a:endParaRPr lang="en-US" sz="10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법률 콘텐츠 제휴 광고 </a:t>
            </a:r>
            <a:endParaRPr lang="en-US" sz="1000" dirty="0"/>
          </a:p>
        </p:txBody>
      </p:sp>
      <p:sp>
        <p:nvSpPr>
          <p:cNvPr id="48" name="Text 37"/>
          <p:cNvSpPr txBox="1"/>
          <p:nvPr/>
        </p:nvSpPr>
        <p:spPr>
          <a:xfrm>
            <a:off x="8280806" y="6368796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Commission Model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76634" y="624809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A84C">
                    <a:alpha val="6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476402"/>
            <a:ext cx="1097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창업자 역량</a:t>
            </a:r>
            <a:endParaRPr lang="en-US" sz="3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761695" y="1143000"/>
            <a:ext cx="476402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81244" y="2714854"/>
            <a:ext cx="1429207" cy="1429207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 t="-3" b="-3"/>
          <a:stretch/>
        </p:blipFill>
        <p:spPr>
          <a:xfrm>
            <a:off x="761695" y="1657807"/>
            <a:ext cx="5191049" cy="2124151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61695" y="1848002"/>
            <a:ext cx="38405" cy="1723644"/>
          </a:xfrm>
          <a:prstGeom prst="roundRect">
            <a:avLst>
              <a:gd name="adj" fmla="val 2380940"/>
            </a:avLst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1" name="Shape 5"/>
          <p:cNvSpPr/>
          <p:nvPr/>
        </p:nvSpPr>
        <p:spPr>
          <a:xfrm>
            <a:off x="1057046" y="1952244"/>
            <a:ext cx="666598" cy="666598"/>
          </a:xfrm>
          <a:prstGeom prst="ellipse">
            <a:avLst/>
          </a:prstGeom>
          <a:solidFill>
            <a:srgbClr val="FAFAF7"/>
          </a:solidFill>
          <a:ln w="12700">
            <a:solidFill>
              <a:srgbClr val="C9A84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Shape 6"/>
          <p:cNvSpPr/>
          <p:nvPr/>
        </p:nvSpPr>
        <p:spPr>
          <a:xfrm>
            <a:off x="1009498" y="1904695"/>
            <a:ext cx="743407" cy="743407"/>
          </a:xfrm>
          <a:prstGeom prst="ellipse">
            <a:avLst/>
          </a:prstGeom>
          <a:noFill/>
          <a:ln w="12700">
            <a:solidFill>
              <a:srgbClr val="C9A84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52728" y="2147926"/>
            <a:ext cx="276149" cy="276149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962302" y="1952244"/>
            <a:ext cx="3810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실제 피해 경험 </a:t>
            </a:r>
            <a:r>
              <a:rPr lang="en-US" sz="1000" b="1" dirty="0">
                <a:solidFill>
                  <a:srgbClr val="C9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Verified</a:t>
            </a:r>
            <a:endParaRPr lang="en-US" sz="16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rcRect l="-2838" r="-2838"/>
          <a:stretch/>
        </p:blipFill>
        <p:spPr>
          <a:xfrm>
            <a:off x="3502152" y="2055571"/>
            <a:ext cx="123444" cy="133502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962302" y="2368296"/>
            <a:ext cx="37719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"직접 당해봤기에, 피해자의 막막함을 누구보다 깊이 이해합니다."</a:t>
            </a:r>
            <a:endParaRPr lang="en-US" sz="1200" dirty="0"/>
          </a:p>
        </p:txBody>
      </p:sp>
      <p:sp>
        <p:nvSpPr>
          <p:cNvPr id="17" name="Shape 9"/>
          <p:cNvSpPr/>
          <p:nvPr/>
        </p:nvSpPr>
        <p:spPr>
          <a:xfrm>
            <a:off x="1962302" y="2969971"/>
            <a:ext cx="36960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62302" y="3110789"/>
            <a:ext cx="133502" cy="133502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2171700" y="2969971"/>
            <a:ext cx="24195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중고거래 사기 피해 당사자로서 문제 정의</a:t>
            </a:r>
            <a:endParaRPr lang="en-US" sz="10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6"/>
          <a:srcRect t="-3" b="-3"/>
          <a:stretch/>
        </p:blipFill>
        <p:spPr>
          <a:xfrm>
            <a:off x="6238951" y="1657807"/>
            <a:ext cx="5191049" cy="2124151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6238951" y="1848002"/>
            <a:ext cx="38405" cy="1723644"/>
          </a:xfrm>
          <a:prstGeom prst="roundRect">
            <a:avLst>
              <a:gd name="adj" fmla="val 2380940"/>
            </a:avLst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2" name="Shape 12"/>
          <p:cNvSpPr/>
          <p:nvPr/>
        </p:nvSpPr>
        <p:spPr>
          <a:xfrm>
            <a:off x="6534302" y="1952244"/>
            <a:ext cx="666598" cy="666598"/>
          </a:xfrm>
          <a:prstGeom prst="ellipse">
            <a:avLst/>
          </a:prstGeom>
          <a:solidFill>
            <a:srgbClr val="FAFAF7"/>
          </a:solidFill>
          <a:ln w="12700">
            <a:solidFill>
              <a:srgbClr val="C9A84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3" name="Shape 13"/>
          <p:cNvSpPr/>
          <p:nvPr/>
        </p:nvSpPr>
        <p:spPr>
          <a:xfrm>
            <a:off x="6486754" y="1904695"/>
            <a:ext cx="743407" cy="743407"/>
          </a:xfrm>
          <a:prstGeom prst="ellipse">
            <a:avLst/>
          </a:prstGeom>
          <a:noFill/>
          <a:ln w="12700">
            <a:solidFill>
              <a:srgbClr val="C9A84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0"/>
          <a:srcRect t="-1013" b="-1013"/>
          <a:stretch/>
        </p:blipFill>
        <p:spPr>
          <a:xfrm>
            <a:off x="6715354" y="2147926"/>
            <a:ext cx="304495" cy="276149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7438644" y="1952244"/>
            <a:ext cx="3810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실전 사업 경험 </a:t>
            </a:r>
            <a:r>
              <a:rPr lang="en-US" sz="1000" b="1" dirty="0">
                <a:solidFill>
                  <a:srgbClr val="C9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2025</a:t>
            </a:r>
            <a:endParaRPr lang="en-US" sz="16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8"/>
          <a:srcRect l="-2838" r="-2838"/>
          <a:stretch/>
        </p:blipFill>
        <p:spPr>
          <a:xfrm>
            <a:off x="8978494" y="2055571"/>
            <a:ext cx="123444" cy="133502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7438644" y="2368296"/>
            <a:ext cx="37719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dirty="0"/>
              <a:t>스포츠 의류 유통업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사업자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등록 및 운영 경험을 통해 시장 구조를 파악했습니다.</a:t>
            </a:r>
            <a:endParaRPr lang="en-US" sz="1200" dirty="0"/>
          </a:p>
        </p:txBody>
      </p:sp>
      <p:sp>
        <p:nvSpPr>
          <p:cNvPr id="28" name="Shape 16"/>
          <p:cNvSpPr/>
          <p:nvPr/>
        </p:nvSpPr>
        <p:spPr>
          <a:xfrm>
            <a:off x="7438644" y="2969971"/>
            <a:ext cx="36960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1"/>
          <a:srcRect l="-2512" r="-2512"/>
          <a:stretch/>
        </p:blipFill>
        <p:spPr>
          <a:xfrm>
            <a:off x="7438644" y="3110789"/>
            <a:ext cx="105156" cy="133502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7619695" y="2969971"/>
            <a:ext cx="22009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중고거래 시장 및 유통 구조 완벽 이해</a:t>
            </a:r>
            <a:endParaRPr lang="en-US" sz="100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6"/>
          <a:srcRect t="-3" b="-3"/>
          <a:stretch/>
        </p:blipFill>
        <p:spPr>
          <a:xfrm>
            <a:off x="761695" y="4067251"/>
            <a:ext cx="5191049" cy="2124151"/>
          </a:xfrm>
          <a:prstGeom prst="rect">
            <a:avLst/>
          </a:prstGeom>
        </p:spPr>
      </p:pic>
      <p:sp>
        <p:nvSpPr>
          <p:cNvPr id="32" name="Shape 18"/>
          <p:cNvSpPr/>
          <p:nvPr/>
        </p:nvSpPr>
        <p:spPr>
          <a:xfrm>
            <a:off x="761695" y="4257446"/>
            <a:ext cx="38405" cy="1723644"/>
          </a:xfrm>
          <a:prstGeom prst="roundRect">
            <a:avLst>
              <a:gd name="adj" fmla="val 2380940"/>
            </a:avLst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3" name="Shape 19"/>
          <p:cNvSpPr/>
          <p:nvPr/>
        </p:nvSpPr>
        <p:spPr>
          <a:xfrm>
            <a:off x="1057046" y="4362602"/>
            <a:ext cx="666598" cy="666598"/>
          </a:xfrm>
          <a:prstGeom prst="ellipse">
            <a:avLst/>
          </a:prstGeom>
          <a:solidFill>
            <a:srgbClr val="FAFAF7"/>
          </a:solidFill>
          <a:ln w="12700">
            <a:solidFill>
              <a:srgbClr val="C9A84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4" name="Shape 20"/>
          <p:cNvSpPr/>
          <p:nvPr/>
        </p:nvSpPr>
        <p:spPr>
          <a:xfrm>
            <a:off x="1009498" y="4315054"/>
            <a:ext cx="743407" cy="743407"/>
          </a:xfrm>
          <a:prstGeom prst="ellipse">
            <a:avLst/>
          </a:prstGeom>
          <a:noFill/>
          <a:ln w="12700">
            <a:solidFill>
              <a:srgbClr val="C9A84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252728" y="4557370"/>
            <a:ext cx="276149" cy="276149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1962302" y="4362602"/>
            <a:ext cx="3810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법적 절차 이해 </a:t>
            </a:r>
            <a:r>
              <a:rPr lang="en-US" sz="1000" b="1" dirty="0">
                <a:solidFill>
                  <a:srgbClr val="C9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Expert</a:t>
            </a:r>
            <a:endParaRPr lang="en-US" sz="1600" dirty="0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8"/>
          <a:srcRect l="-2838" r="-2838"/>
          <a:stretch/>
        </p:blipFill>
        <p:spPr>
          <a:xfrm>
            <a:off x="3502152" y="4465015"/>
            <a:ext cx="123444" cy="133502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1962302" y="4777740"/>
            <a:ext cx="37719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변호사를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통해 실제 대처 절차를 학습하고 직접 수행해 보았습니다.</a:t>
            </a:r>
            <a:endParaRPr lang="en-US" sz="1200" dirty="0"/>
          </a:p>
        </p:txBody>
      </p:sp>
      <p:sp>
        <p:nvSpPr>
          <p:cNvPr id="39" name="Shape 23"/>
          <p:cNvSpPr/>
          <p:nvPr/>
        </p:nvSpPr>
        <p:spPr>
          <a:xfrm>
            <a:off x="1962302" y="5379415"/>
            <a:ext cx="36960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13"/>
          <a:srcRect l="-2838" r="-2838"/>
          <a:stretch/>
        </p:blipFill>
        <p:spPr>
          <a:xfrm>
            <a:off x="1962302" y="5520233"/>
            <a:ext cx="123444" cy="133502"/>
          </a:xfrm>
          <a:prstGeom prst="rect">
            <a:avLst/>
          </a:prstGeom>
        </p:spPr>
      </p:pic>
      <p:sp>
        <p:nvSpPr>
          <p:cNvPr id="41" name="Text 24"/>
          <p:cNvSpPr txBox="1"/>
          <p:nvPr/>
        </p:nvSpPr>
        <p:spPr>
          <a:xfrm>
            <a:off x="2162556" y="5379415"/>
            <a:ext cx="24963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내용증명, 지급정지, 고소장 작성 실무 숙지</a:t>
            </a:r>
            <a:endParaRPr lang="en-US" sz="1000" dirty="0"/>
          </a:p>
        </p:txBody>
      </p:sp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6"/>
          <a:srcRect t="-3" b="-3"/>
          <a:stretch/>
        </p:blipFill>
        <p:spPr>
          <a:xfrm>
            <a:off x="6238951" y="4067251"/>
            <a:ext cx="5191049" cy="2124151"/>
          </a:xfrm>
          <a:prstGeom prst="rect">
            <a:avLst/>
          </a:prstGeom>
        </p:spPr>
      </p:pic>
      <p:sp>
        <p:nvSpPr>
          <p:cNvPr id="43" name="Shape 25"/>
          <p:cNvSpPr/>
          <p:nvPr/>
        </p:nvSpPr>
        <p:spPr>
          <a:xfrm>
            <a:off x="6238951" y="4257446"/>
            <a:ext cx="38405" cy="1723644"/>
          </a:xfrm>
          <a:prstGeom prst="roundRect">
            <a:avLst>
              <a:gd name="adj" fmla="val 2380940"/>
            </a:avLst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4" name="Shape 26"/>
          <p:cNvSpPr/>
          <p:nvPr/>
        </p:nvSpPr>
        <p:spPr>
          <a:xfrm>
            <a:off x="6534302" y="4362602"/>
            <a:ext cx="666598" cy="666598"/>
          </a:xfrm>
          <a:prstGeom prst="ellipse">
            <a:avLst/>
          </a:prstGeom>
          <a:solidFill>
            <a:srgbClr val="FAFAF7"/>
          </a:solidFill>
          <a:ln w="12700">
            <a:solidFill>
              <a:srgbClr val="C9A84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5" name="Shape 27"/>
          <p:cNvSpPr/>
          <p:nvPr/>
        </p:nvSpPr>
        <p:spPr>
          <a:xfrm>
            <a:off x="6486754" y="4315054"/>
            <a:ext cx="743407" cy="743407"/>
          </a:xfrm>
          <a:prstGeom prst="ellipse">
            <a:avLst/>
          </a:prstGeom>
          <a:noFill/>
          <a:ln w="12700">
            <a:solidFill>
              <a:srgbClr val="C9A84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6" name="Image 16" descr="preencoded.png"/>
          <p:cNvPicPr>
            <a:picLocks noChangeAspect="1"/>
          </p:cNvPicPr>
          <p:nvPr/>
        </p:nvPicPr>
        <p:blipFill>
          <a:blip r:embed="rId14"/>
          <a:srcRect t="-333" b="-333"/>
          <a:stretch/>
        </p:blipFill>
        <p:spPr>
          <a:xfrm>
            <a:off x="6696151" y="4557370"/>
            <a:ext cx="342900" cy="276149"/>
          </a:xfrm>
          <a:prstGeom prst="rect">
            <a:avLst/>
          </a:prstGeom>
        </p:spPr>
      </p:pic>
      <p:sp>
        <p:nvSpPr>
          <p:cNvPr id="47" name="Text 28"/>
          <p:cNvSpPr txBox="1"/>
          <p:nvPr/>
        </p:nvSpPr>
        <p:spPr>
          <a:xfrm>
            <a:off x="7438644" y="4362602"/>
            <a:ext cx="3810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자체 개발 역량 </a:t>
            </a:r>
            <a:r>
              <a:rPr lang="en-US" sz="1000" b="1" dirty="0">
                <a:solidFill>
                  <a:srgbClr val="C9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Dev</a:t>
            </a:r>
            <a:endParaRPr lang="en-US" sz="1600" dirty="0"/>
          </a:p>
        </p:txBody>
      </p:sp>
      <p:pic>
        <p:nvPicPr>
          <p:cNvPr id="48" name="Image 17" descr="preencoded.png"/>
          <p:cNvPicPr>
            <a:picLocks noChangeAspect="1"/>
          </p:cNvPicPr>
          <p:nvPr/>
        </p:nvPicPr>
        <p:blipFill>
          <a:blip r:embed="rId8"/>
          <a:srcRect l="-2838" r="-2838"/>
          <a:stretch/>
        </p:blipFill>
        <p:spPr>
          <a:xfrm>
            <a:off x="8978494" y="4465015"/>
            <a:ext cx="123444" cy="133502"/>
          </a:xfrm>
          <a:prstGeom prst="rect">
            <a:avLst/>
          </a:prstGeom>
        </p:spPr>
      </p:pic>
      <p:sp>
        <p:nvSpPr>
          <p:cNvPr id="49" name="Text 29"/>
          <p:cNvSpPr txBox="1"/>
          <p:nvPr/>
        </p:nvSpPr>
        <p:spPr>
          <a:xfrm>
            <a:off x="7438644" y="4777740"/>
            <a:ext cx="37719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아이디어를 실제 서비스로 구현할 수 있는 풀스택 개발 능력을 보유했습니다.</a:t>
            </a:r>
            <a:endParaRPr lang="en-US" sz="1200" dirty="0"/>
          </a:p>
        </p:txBody>
      </p:sp>
      <p:sp>
        <p:nvSpPr>
          <p:cNvPr id="50" name="Shape 30"/>
          <p:cNvSpPr/>
          <p:nvPr/>
        </p:nvSpPr>
        <p:spPr>
          <a:xfrm>
            <a:off x="7438644" y="5379415"/>
            <a:ext cx="36960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5"/>
          <a:srcRect l="-2838" r="-2838"/>
          <a:stretch/>
        </p:blipFill>
        <p:spPr>
          <a:xfrm>
            <a:off x="7438644" y="5520233"/>
            <a:ext cx="123444" cy="133502"/>
          </a:xfrm>
          <a:prstGeom prst="rect">
            <a:avLst/>
          </a:prstGeom>
        </p:spPr>
      </p:pic>
      <p:sp>
        <p:nvSpPr>
          <p:cNvPr id="52" name="Text 31"/>
          <p:cNvSpPr txBox="1"/>
          <p:nvPr/>
        </p:nvSpPr>
        <p:spPr>
          <a:xfrm>
            <a:off x="7638898" y="5379415"/>
            <a:ext cx="26197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+ FastAPI 기반 챗봇 로직 구현 완료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63833" y="6248095"/>
            <a:ext cx="238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A84C">
                    <a:alpha val="6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476402"/>
            <a:ext cx="1097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추진 일정</a:t>
            </a:r>
            <a:endParaRPr lang="en-US" sz="3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761695" y="1143000"/>
            <a:ext cx="476402" cy="384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95705" y="5305349"/>
            <a:ext cx="14401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EAEAE5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MAR</a:t>
            </a:r>
            <a:endParaRPr lang="en-US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3962095" y="2162556"/>
            <a:ext cx="124541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EAEAE5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APR</a:t>
            </a:r>
            <a:endParaRPr lang="en-US" sz="4200" dirty="0"/>
          </a:p>
        </p:txBody>
      </p:sp>
      <p:sp>
        <p:nvSpPr>
          <p:cNvPr id="10" name="Text 6"/>
          <p:cNvSpPr txBox="1"/>
          <p:nvPr/>
        </p:nvSpPr>
        <p:spPr>
          <a:xfrm>
            <a:off x="6629400" y="5305349"/>
            <a:ext cx="135788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EAEAE5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MAY</a:t>
            </a:r>
            <a:endParaRPr lang="en-US" sz="4200" dirty="0"/>
          </a:p>
        </p:txBody>
      </p:sp>
      <p:sp>
        <p:nvSpPr>
          <p:cNvPr id="11" name="Text 7"/>
          <p:cNvSpPr txBox="1"/>
          <p:nvPr/>
        </p:nvSpPr>
        <p:spPr>
          <a:xfrm>
            <a:off x="9509760" y="2162556"/>
            <a:ext cx="118323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EAEAE5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JUN</a:t>
            </a:r>
            <a:endParaRPr lang="en-US" sz="4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4" b="-4"/>
          <a:stretch/>
        </p:blipFill>
        <p:spPr>
          <a:xfrm>
            <a:off x="761695" y="1971446"/>
            <a:ext cx="10668305" cy="4286707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l="-1" r="-1"/>
          <a:stretch/>
        </p:blipFill>
        <p:spPr>
          <a:xfrm>
            <a:off x="975665" y="4591202"/>
            <a:ext cx="2286000" cy="205008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1165860" y="4591202"/>
            <a:ext cx="1886407" cy="28346"/>
          </a:xfrm>
          <a:prstGeom prst="rect">
            <a:avLst/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5" name="Shape 9"/>
          <p:cNvSpPr/>
          <p:nvPr/>
        </p:nvSpPr>
        <p:spPr>
          <a:xfrm>
            <a:off x="1645006" y="4791456"/>
            <a:ext cx="952805" cy="267005"/>
          </a:xfrm>
          <a:prstGeom prst="roundRect">
            <a:avLst>
              <a:gd name="adj" fmla="val 342465"/>
            </a:avLst>
          </a:prstGeom>
          <a:solidFill>
            <a:srgbClr val="F5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Text 10"/>
          <p:cNvSpPr/>
          <p:nvPr/>
        </p:nvSpPr>
        <p:spPr>
          <a:xfrm>
            <a:off x="1615745" y="4791456"/>
            <a:ext cx="10104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3.18 ~ 4월 초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028139" y="5196535"/>
            <a:ext cx="181051" cy="181051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37514" y="5495544"/>
            <a:ext cx="19623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Backend &amp; AI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1137514" y="5823814"/>
            <a:ext cx="1961388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FastAPI 백엔드 서버 개발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Groq API (LLaMA3) 연동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DB 스키마 설계 및 구축 </a:t>
            </a:r>
            <a:endParaRPr lang="en-US" sz="10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022653" y="4067251"/>
            <a:ext cx="190195" cy="190195"/>
          </a:xfrm>
          <a:prstGeom prst="rect">
            <a:avLst/>
          </a:prstGeom>
        </p:spPr>
      </p:pic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6"/>
          <a:srcRect l="-1" r="-1"/>
          <a:stretch/>
        </p:blipFill>
        <p:spPr>
          <a:xfrm>
            <a:off x="3749040" y="2734056"/>
            <a:ext cx="2286000" cy="2050085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3939235" y="2734056"/>
            <a:ext cx="1886407" cy="28346"/>
          </a:xfrm>
          <a:prstGeom prst="rect">
            <a:avLst/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3" name="Shape 14"/>
          <p:cNvSpPr/>
          <p:nvPr/>
        </p:nvSpPr>
        <p:spPr>
          <a:xfrm>
            <a:off x="4379062" y="2933395"/>
            <a:ext cx="1028700" cy="267005"/>
          </a:xfrm>
          <a:prstGeom prst="roundRect">
            <a:avLst>
              <a:gd name="adj" fmla="val 342465"/>
            </a:avLst>
          </a:prstGeom>
          <a:solidFill>
            <a:srgbClr val="F5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4" name="Text 15"/>
          <p:cNvSpPr/>
          <p:nvPr/>
        </p:nvSpPr>
        <p:spPr>
          <a:xfrm>
            <a:off x="4350715" y="2933395"/>
            <a:ext cx="10863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4월 초 ~ 4월 말</a:t>
            </a:r>
            <a:endParaRPr lang="en-US" sz="9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9"/>
          <a:srcRect l="-505" r="-505"/>
          <a:stretch/>
        </p:blipFill>
        <p:spPr>
          <a:xfrm>
            <a:off x="4777740" y="3339389"/>
            <a:ext cx="228600" cy="181051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3910889" y="3638398"/>
            <a:ext cx="19623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Frontend &amp; Beta</a:t>
            </a:r>
            <a:endParaRPr lang="en-US" sz="1300" dirty="0"/>
          </a:p>
        </p:txBody>
      </p:sp>
      <p:sp>
        <p:nvSpPr>
          <p:cNvPr id="27" name="Text 17"/>
          <p:cNvSpPr txBox="1"/>
          <p:nvPr/>
        </p:nvSpPr>
        <p:spPr>
          <a:xfrm>
            <a:off x="3910889" y="3966667"/>
            <a:ext cx="1961388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채팅 UI 프론트엔드 개발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시나리오별 테스트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베타 서비스 배포 (MVP)</a:t>
            </a:r>
            <a:endParaRPr lang="en-US" sz="10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96942" y="4974336"/>
            <a:ext cx="190195" cy="190195"/>
          </a:xfrm>
          <a:prstGeom prst="rect">
            <a:avLst/>
          </a:prstGeom>
        </p:spPr>
      </p:pic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0"/>
          <a:srcRect l="-2" r="-2"/>
          <a:stretch/>
        </p:blipFill>
        <p:spPr>
          <a:xfrm>
            <a:off x="6522415" y="4591202"/>
            <a:ext cx="2286000" cy="2255825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6713525" y="4591202"/>
            <a:ext cx="1886407" cy="28346"/>
          </a:xfrm>
          <a:prstGeom prst="rect">
            <a:avLst/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1" name="Shape 19"/>
          <p:cNvSpPr/>
          <p:nvPr/>
        </p:nvSpPr>
        <p:spPr>
          <a:xfrm>
            <a:off x="7459675" y="4791456"/>
            <a:ext cx="418795" cy="267005"/>
          </a:xfrm>
          <a:prstGeom prst="roundRect">
            <a:avLst>
              <a:gd name="adj" fmla="val 342465"/>
            </a:avLst>
          </a:prstGeom>
          <a:solidFill>
            <a:srgbClr val="F5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2" name="Text 20"/>
          <p:cNvSpPr/>
          <p:nvPr/>
        </p:nvSpPr>
        <p:spPr>
          <a:xfrm>
            <a:off x="7431329" y="4791456"/>
            <a:ext cx="47640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5월</a:t>
            </a:r>
            <a:endParaRPr lang="en-US" sz="9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574890" y="5196535"/>
            <a:ext cx="181051" cy="181051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6684264" y="5495544"/>
            <a:ext cx="19623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35" name="Text 22"/>
          <p:cNvSpPr txBox="1"/>
          <p:nvPr/>
        </p:nvSpPr>
        <p:spPr>
          <a:xfrm>
            <a:off x="6685178" y="5823814"/>
            <a:ext cx="1961388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중고나라/번개장터 커뮤니티 홍보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 사용자 확보 및 트래픽 유입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사기 유형 데이터 수집 </a:t>
            </a:r>
            <a:endParaRPr lang="en-US" sz="1000" dirty="0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570318" y="4067251"/>
            <a:ext cx="190195" cy="190195"/>
          </a:xfrm>
          <a:prstGeom prst="rect">
            <a:avLst/>
          </a:prstGeom>
        </p:spPr>
      </p:pic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6"/>
          <a:srcRect l="-1" r="-1"/>
          <a:stretch/>
        </p:blipFill>
        <p:spPr>
          <a:xfrm>
            <a:off x="9296705" y="2734056"/>
            <a:ext cx="2286000" cy="2050085"/>
          </a:xfrm>
          <a:prstGeom prst="rect">
            <a:avLst/>
          </a:prstGeom>
        </p:spPr>
      </p:pic>
      <p:sp>
        <p:nvSpPr>
          <p:cNvPr id="38" name="Shape 23"/>
          <p:cNvSpPr/>
          <p:nvPr/>
        </p:nvSpPr>
        <p:spPr>
          <a:xfrm>
            <a:off x="9486900" y="2734056"/>
            <a:ext cx="1886407" cy="28346"/>
          </a:xfrm>
          <a:prstGeom prst="rect">
            <a:avLst/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9" name="Shape 24"/>
          <p:cNvSpPr/>
          <p:nvPr/>
        </p:nvSpPr>
        <p:spPr>
          <a:xfrm>
            <a:off x="10072116" y="2933395"/>
            <a:ext cx="743407" cy="267005"/>
          </a:xfrm>
          <a:prstGeom prst="roundRect">
            <a:avLst>
              <a:gd name="adj" fmla="val 342465"/>
            </a:avLst>
          </a:prstGeom>
          <a:solidFill>
            <a:srgbClr val="F5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0" name="Text 25"/>
          <p:cNvSpPr/>
          <p:nvPr/>
        </p:nvSpPr>
        <p:spPr>
          <a:xfrm>
            <a:off x="10043770" y="2933395"/>
            <a:ext cx="8001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6월 ~ 7월</a:t>
            </a:r>
            <a:endParaRPr lang="en-US" sz="900" dirty="0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349179" y="3339389"/>
            <a:ext cx="181051" cy="181051"/>
          </a:xfrm>
          <a:prstGeom prst="rect">
            <a:avLst/>
          </a:prstGeom>
        </p:spPr>
      </p:pic>
      <p:sp>
        <p:nvSpPr>
          <p:cNvPr id="42" name="Text 26"/>
          <p:cNvSpPr txBox="1"/>
          <p:nvPr/>
        </p:nvSpPr>
        <p:spPr>
          <a:xfrm>
            <a:off x="9458554" y="3638398"/>
            <a:ext cx="19623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Scale-up</a:t>
            </a:r>
            <a:endParaRPr lang="en-US" sz="1300" dirty="0"/>
          </a:p>
        </p:txBody>
      </p:sp>
      <p:sp>
        <p:nvSpPr>
          <p:cNvPr id="43" name="Text 27"/>
          <p:cNvSpPr txBox="1"/>
          <p:nvPr/>
        </p:nvSpPr>
        <p:spPr>
          <a:xfrm>
            <a:off x="9458554" y="3966667"/>
            <a:ext cx="1961388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사용자 피드백 기반 고도화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내용증명/고소장 자동화 기능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법적 대응 콘텐츠 확장 </a:t>
            </a:r>
            <a:endParaRPr lang="en-US" sz="1000" dirty="0"/>
          </a:p>
        </p:txBody>
      </p:sp>
      <p:pic>
        <p:nvPicPr>
          <p:cNvPr id="44" name="Image 14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344607" y="4974336"/>
            <a:ext cx="190195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63833" y="6248095"/>
            <a:ext cx="238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A84C">
                    <a:alpha val="6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476402"/>
            <a:ext cx="1097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예산 사용 계획</a:t>
            </a:r>
            <a:endParaRPr lang="en-US" sz="3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761695" y="1143000"/>
            <a:ext cx="476402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-4" b="-4"/>
          <a:stretch/>
        </p:blipFill>
        <p:spPr>
          <a:xfrm>
            <a:off x="761695" y="2018995"/>
            <a:ext cx="3301898" cy="38103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71754" y="2029054"/>
            <a:ext cx="3286354" cy="1762049"/>
          </a:xfrm>
          <a:prstGeom prst="roundRect">
            <a:avLst>
              <a:gd name="adj" fmla="val 8976"/>
            </a:avLst>
          </a:prstGeom>
          <a:solidFill>
            <a:srgbClr val="FAFAFA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0" name="Shape 5"/>
          <p:cNvSpPr/>
          <p:nvPr/>
        </p:nvSpPr>
        <p:spPr>
          <a:xfrm>
            <a:off x="771754" y="3781958"/>
            <a:ext cx="3286354" cy="9144"/>
          </a:xfrm>
          <a:prstGeom prst="roundRect">
            <a:avLst>
              <a:gd name="adj" fmla="val 1729730"/>
            </a:avLst>
          </a:prstGeom>
          <a:solidFill>
            <a:srgbClr val="F5F5F0"/>
          </a:solidFill>
          <a:ln w="12700">
            <a:solidFill>
              <a:srgbClr val="F5F5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031797" y="2314346"/>
            <a:ext cx="761695" cy="76169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260397" y="2542946"/>
            <a:ext cx="304495" cy="30449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777594" y="3267151"/>
            <a:ext cx="127924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도메인 구매</a:t>
            </a:r>
            <a:endParaRPr lang="en-US" sz="1600" dirty="0"/>
          </a:p>
        </p:txBody>
      </p:sp>
      <p:sp>
        <p:nvSpPr>
          <p:cNvPr id="14" name="Text 7"/>
          <p:cNvSpPr txBox="1"/>
          <p:nvPr/>
        </p:nvSpPr>
        <p:spPr>
          <a:xfrm>
            <a:off x="1477670" y="4837176"/>
            <a:ext cx="187269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서비스 전용 도메인 1년 계약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(.com / .kr 호스팅 비용) </a:t>
            </a:r>
            <a:endParaRPr lang="en-US" sz="12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rcRect t="-6" b="-6"/>
          <a:stretch/>
        </p:blipFill>
        <p:spPr>
          <a:xfrm>
            <a:off x="4444898" y="2018995"/>
            <a:ext cx="3301898" cy="3810305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4454042" y="2029054"/>
            <a:ext cx="3286354" cy="1762049"/>
          </a:xfrm>
          <a:prstGeom prst="roundRect">
            <a:avLst>
              <a:gd name="adj" fmla="val 8976"/>
            </a:avLst>
          </a:prstGeom>
          <a:solidFill>
            <a:srgbClr val="FAFAFA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7" name="Shape 9"/>
          <p:cNvSpPr/>
          <p:nvPr/>
        </p:nvSpPr>
        <p:spPr>
          <a:xfrm>
            <a:off x="4454042" y="3781958"/>
            <a:ext cx="3286354" cy="9144"/>
          </a:xfrm>
          <a:prstGeom prst="roundRect">
            <a:avLst>
              <a:gd name="adj" fmla="val 1729730"/>
            </a:avLst>
          </a:prstGeom>
          <a:solidFill>
            <a:srgbClr val="F5F5F0"/>
          </a:solidFill>
          <a:ln w="12700">
            <a:solidFill>
              <a:srgbClr val="F5F5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15000" y="2314346"/>
            <a:ext cx="761695" cy="761695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943600" y="2542946"/>
            <a:ext cx="304495" cy="304495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5275174" y="3267151"/>
            <a:ext cx="164500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홍보 및 마케팅</a:t>
            </a:r>
            <a:endParaRPr lang="en-US" sz="1600" dirty="0"/>
          </a:p>
        </p:txBody>
      </p:sp>
      <p:sp>
        <p:nvSpPr>
          <p:cNvPr id="21" name="Text 11"/>
          <p:cNvSpPr txBox="1"/>
          <p:nvPr/>
        </p:nvSpPr>
        <p:spPr>
          <a:xfrm>
            <a:off x="4990795" y="4837176"/>
            <a:ext cx="2210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중고나라, 번개장터 커뮤니티 광고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네이버 블로그 콘텐츠 제작 비용 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0"/>
          <a:srcRect t="-4" b="-4"/>
          <a:stretch/>
        </p:blipFill>
        <p:spPr>
          <a:xfrm>
            <a:off x="8128102" y="2018995"/>
            <a:ext cx="3301898" cy="3810305"/>
          </a:xfrm>
          <a:prstGeom prst="rect">
            <a:avLst/>
          </a:prstGeom>
        </p:spPr>
      </p:pic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1">
            <a:alphaModFix amt="10000"/>
          </a:blip>
          <a:srcRect/>
          <a:stretch/>
        </p:blipFill>
        <p:spPr>
          <a:xfrm>
            <a:off x="9991649" y="4390949"/>
            <a:ext cx="1904695" cy="1904695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8137246" y="2029054"/>
            <a:ext cx="3286354" cy="1762049"/>
          </a:xfrm>
          <a:prstGeom prst="roundRect">
            <a:avLst>
              <a:gd name="adj" fmla="val 8976"/>
            </a:avLst>
          </a:prstGeom>
          <a:solidFill>
            <a:srgbClr val="252527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5" name="Shape 13"/>
          <p:cNvSpPr/>
          <p:nvPr/>
        </p:nvSpPr>
        <p:spPr>
          <a:xfrm>
            <a:off x="8137246" y="3781958"/>
            <a:ext cx="3286354" cy="9144"/>
          </a:xfrm>
          <a:prstGeom prst="roundRect">
            <a:avLst>
              <a:gd name="adj" fmla="val 172973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398203" y="2314346"/>
            <a:ext cx="761695" cy="761695"/>
          </a:xfrm>
          <a:prstGeom prst="rect">
            <a:avLst/>
          </a:prstGeom>
        </p:spPr>
      </p:pic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3"/>
          <a:srcRect l="-90" r="-90"/>
          <a:stretch/>
        </p:blipFill>
        <p:spPr>
          <a:xfrm>
            <a:off x="9588398" y="2542946"/>
            <a:ext cx="381305" cy="304495"/>
          </a:xfrm>
          <a:prstGeom prst="rect">
            <a:avLst/>
          </a:prstGeom>
        </p:spPr>
      </p:pic>
      <p:sp>
        <p:nvSpPr>
          <p:cNvPr id="28" name="Text 14"/>
          <p:cNvSpPr txBox="1"/>
          <p:nvPr/>
        </p:nvSpPr>
        <p:spPr>
          <a:xfrm>
            <a:off x="8845906" y="3267151"/>
            <a:ext cx="187269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법률 콘텐츠 검수</a:t>
            </a:r>
            <a:endParaRPr lang="en-US" sz="1600" dirty="0"/>
          </a:p>
        </p:txBody>
      </p:sp>
      <p:sp>
        <p:nvSpPr>
          <p:cNvPr id="29" name="Text 15"/>
          <p:cNvSpPr txBox="1"/>
          <p:nvPr/>
        </p:nvSpPr>
        <p:spPr>
          <a:xfrm>
            <a:off x="8722462" y="4837176"/>
            <a:ext cx="21150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BBB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내용증명 및 고소장 템플릿의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BBBB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법적 효력 검토 및 변호사 자문비 </a:t>
            </a:r>
            <a:endParaRPr lang="en-US" sz="1200" dirty="0"/>
          </a:p>
        </p:txBody>
      </p:sp>
      <p:sp>
        <p:nvSpPr>
          <p:cNvPr id="30" name="Text 16"/>
          <p:cNvSpPr txBox="1"/>
          <p:nvPr/>
        </p:nvSpPr>
        <p:spPr>
          <a:xfrm>
            <a:off x="1782166" y="4282135"/>
            <a:ext cx="12701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20,000</a:t>
            </a:r>
            <a:r>
              <a:rPr lang="en-US" sz="12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</a:t>
            </a:r>
            <a:endParaRPr lang="en-US" sz="2100" dirty="0"/>
          </a:p>
        </p:txBody>
      </p:sp>
      <p:sp>
        <p:nvSpPr>
          <p:cNvPr id="31" name="Text 17"/>
          <p:cNvSpPr txBox="1"/>
          <p:nvPr/>
        </p:nvSpPr>
        <p:spPr>
          <a:xfrm>
            <a:off x="5465369" y="4282135"/>
            <a:ext cx="12701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C1C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50,000</a:t>
            </a:r>
            <a:r>
              <a:rPr lang="en-US" sz="12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</a:t>
            </a:r>
            <a:endParaRPr lang="en-US" sz="2100" dirty="0"/>
          </a:p>
        </p:txBody>
      </p:sp>
      <p:sp>
        <p:nvSpPr>
          <p:cNvPr id="32" name="Text 18"/>
          <p:cNvSpPr txBox="1"/>
          <p:nvPr/>
        </p:nvSpPr>
        <p:spPr>
          <a:xfrm>
            <a:off x="8962034" y="4282135"/>
            <a:ext cx="16386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9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나머지 예산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963924" y="6270955"/>
            <a:ext cx="5010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8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2026-1학기 한성대학교 창업동아리 | 중고거래 사기꾼 참교육 챗봇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61488" y="1112825"/>
            <a:ext cx="6675120" cy="1800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중고거래 사기 피해자가</a:t>
            </a:r>
            <a:endParaRPr lang="en-US" sz="3300" dirty="0"/>
          </a:p>
          <a:p>
            <a:pPr marL="0" indent="0" algn="ctr">
              <a:buNone/>
            </a:pPr>
            <a:r>
              <a:rPr lang="en-US" sz="3300" b="1" dirty="0">
                <a:solidFill>
                  <a:srgbClr val="C9A84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변호사 없이도, 혼자서도</a:t>
            </a:r>
            <a:endParaRPr lang="en-US" sz="3300" dirty="0"/>
          </a:p>
          <a:p>
            <a:pPr marL="0" indent="0" algn="ctr">
              <a:buNone/>
            </a:pPr>
            <a:r>
              <a:rPr lang="en-US" sz="33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당당하게 대처할 수 있는 세상 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2307031" y="3095244"/>
            <a:ext cx="758494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72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법률 정보의 비대칭을 해소하고 누구나 자신의 권리를 지킬 수 있도록 돕겠습니다.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175358" y="731520"/>
            <a:ext cx="5806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C9A84C">
                    <a:alpha val="2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“</a:t>
            </a:r>
            <a:endParaRPr lang="en-US" sz="7200" dirty="0"/>
          </a:p>
        </p:txBody>
      </p:sp>
      <p:sp>
        <p:nvSpPr>
          <p:cNvPr id="9" name="Text 6"/>
          <p:cNvSpPr txBox="1"/>
          <p:nvPr/>
        </p:nvSpPr>
        <p:spPr>
          <a:xfrm rot="10800000">
            <a:off x="9437522" y="2836469"/>
            <a:ext cx="5806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C9A84C">
                    <a:alpha val="2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“</a:t>
            </a: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4753051" y="4454042"/>
            <a:ext cx="9144" cy="96835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43707" y="4123944"/>
            <a:ext cx="571500" cy="571500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3238805" y="4257446"/>
            <a:ext cx="381305" cy="30449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734056" y="4846320"/>
            <a:ext cx="13953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84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500</a:t>
            </a:r>
            <a:r>
              <a:rPr lang="en-US" sz="8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명</a:t>
            </a:r>
            <a:endParaRPr lang="en-US" sz="3000" dirty="0"/>
          </a:p>
        </p:txBody>
      </p:sp>
      <p:sp>
        <p:nvSpPr>
          <p:cNvPr id="14" name="Text 9"/>
          <p:cNvSpPr txBox="1"/>
          <p:nvPr/>
        </p:nvSpPr>
        <p:spPr>
          <a:xfrm>
            <a:off x="2847442" y="5274259"/>
            <a:ext cx="11713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활성 사용자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2571293" y="5550408"/>
            <a:ext cx="17154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커뮤니티 장악력 확보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7420356" y="4454042"/>
            <a:ext cx="9144" cy="96835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10098" y="4104742"/>
            <a:ext cx="571500" cy="571500"/>
          </a:xfrm>
          <a:prstGeom prst="rect">
            <a:avLst/>
          </a:prstGeom>
        </p:spPr>
      </p:pic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rcRect l="-50" r="-50"/>
          <a:stretch/>
        </p:blipFill>
        <p:spPr>
          <a:xfrm>
            <a:off x="5982005" y="4238244"/>
            <a:ext cx="228600" cy="30449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52567" y="4846320"/>
            <a:ext cx="129479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84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50</a:t>
            </a:r>
            <a:r>
              <a:rPr lang="en-US" sz="800" b="1" dirty="0">
                <a:solidFill>
                  <a:srgbClr val="1C1C1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건+</a:t>
            </a:r>
            <a:endParaRPr lang="en-US" sz="3000" dirty="0"/>
          </a:p>
        </p:txBody>
      </p:sp>
      <p:sp>
        <p:nvSpPr>
          <p:cNvPr id="20" name="Text 13"/>
          <p:cNvSpPr txBox="1"/>
          <p:nvPr/>
        </p:nvSpPr>
        <p:spPr>
          <a:xfrm>
            <a:off x="5513832" y="5274259"/>
            <a:ext cx="11713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피해 복구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5308092" y="5550408"/>
            <a:ext cx="15819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실질적인 문제 해결 사례</a:t>
            </a: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7402" y="4078224"/>
            <a:ext cx="571500" cy="571500"/>
          </a:xfrm>
          <a:prstGeom prst="rect">
            <a:avLst/>
          </a:prstGeom>
        </p:spPr>
      </p:pic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8572500" y="4211726"/>
            <a:ext cx="381305" cy="304495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342071" y="4846320"/>
            <a:ext cx="8485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84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B2B</a:t>
            </a:r>
            <a:endParaRPr lang="en-US" sz="3000" dirty="0"/>
          </a:p>
        </p:txBody>
      </p:sp>
      <p:sp>
        <p:nvSpPr>
          <p:cNvPr id="25" name="Text 16"/>
          <p:cNvSpPr txBox="1"/>
          <p:nvPr/>
        </p:nvSpPr>
        <p:spPr>
          <a:xfrm>
            <a:off x="8311896" y="5274259"/>
            <a:ext cx="9107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제휴</a:t>
            </a:r>
            <a:endParaRPr lang="en-US" sz="1200" dirty="0"/>
          </a:p>
        </p:txBody>
      </p:sp>
      <p:sp>
        <p:nvSpPr>
          <p:cNvPr id="26" name="Text 17"/>
          <p:cNvSpPr txBox="1"/>
          <p:nvPr/>
        </p:nvSpPr>
        <p:spPr>
          <a:xfrm>
            <a:off x="7842809" y="5550408"/>
            <a:ext cx="18498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번개장터, 중고나라 파트너십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5B4CEBE-F7D3-5F47-BF94-6296B7BCA4C7}">
  <we:reference id="wa200010001" version="1.0.0.0" store="ko-KR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4405</TotalTime>
  <Words>1215</Words>
  <Application>Microsoft Macintosh PowerPoint</Application>
  <PresentationFormat>와이드스크린</PresentationFormat>
  <Paragraphs>296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Noto Sans KR</vt:lpstr>
      <vt:lpstr>Noto Serif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래원 정</cp:lastModifiedBy>
  <cp:revision>5</cp:revision>
  <dcterms:created xsi:type="dcterms:W3CDTF">2026-03-07T17:33:36Z</dcterms:created>
  <dcterms:modified xsi:type="dcterms:W3CDTF">2026-03-10T19:05:04Z</dcterms:modified>
</cp:coreProperties>
</file>